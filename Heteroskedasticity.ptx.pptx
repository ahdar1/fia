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463" r:id="rId2"/>
    <p:sldId id="275" r:id="rId3"/>
    <p:sldId id="465" r:id="rId4"/>
    <p:sldId id="440" r:id="rId5"/>
    <p:sldId id="464" r:id="rId6"/>
    <p:sldId id="441" r:id="rId7"/>
    <p:sldId id="442" r:id="rId8"/>
    <p:sldId id="443" r:id="rId9"/>
    <p:sldId id="444" r:id="rId10"/>
    <p:sldId id="445" r:id="rId11"/>
    <p:sldId id="446" r:id="rId12"/>
    <p:sldId id="447" r:id="rId13"/>
    <p:sldId id="448" r:id="rId14"/>
    <p:sldId id="449" r:id="rId15"/>
    <p:sldId id="450" r:id="rId16"/>
    <p:sldId id="451" r:id="rId17"/>
    <p:sldId id="466" r:id="rId18"/>
    <p:sldId id="452" r:id="rId19"/>
    <p:sldId id="453" r:id="rId20"/>
    <p:sldId id="28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679"/>
  </p:normalViewPr>
  <p:slideViewPr>
    <p:cSldViewPr snapToGrid="0">
      <p:cViewPr varScale="1">
        <p:scale>
          <a:sx n="59" d="100"/>
          <a:sy n="59" d="100"/>
        </p:scale>
        <p:origin x="79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yanto, Ahmad" userId="61940c2a-8427-4576-9f17-0c8fab086415" providerId="ADAL" clId="{7843BEE4-BB9E-47EA-A812-8FBB036213D7}"/>
    <pc:docChg chg="undo custSel addSld delSld modSld sldOrd">
      <pc:chgData name="Daryanto, Ahmad" userId="61940c2a-8427-4576-9f17-0c8fab086415" providerId="ADAL" clId="{7843BEE4-BB9E-47EA-A812-8FBB036213D7}" dt="2026-09-09T02:45:55.077" v="647" actId="6549"/>
      <pc:docMkLst>
        <pc:docMk/>
      </pc:docMkLst>
      <pc:sldChg chg="addSp delSp modSp mod">
        <pc:chgData name="Daryanto, Ahmad" userId="61940c2a-8427-4576-9f17-0c8fab086415" providerId="ADAL" clId="{7843BEE4-BB9E-47EA-A812-8FBB036213D7}" dt="2026-09-07T02:43:57.146" v="268" actId="478"/>
        <pc:sldMkLst>
          <pc:docMk/>
          <pc:sldMk cId="2087706263" sldId="275"/>
        </pc:sldMkLst>
      </pc:sldChg>
      <pc:sldChg chg="modSp add mod">
        <pc:chgData name="Daryanto, Ahmad" userId="61940c2a-8427-4576-9f17-0c8fab086415" providerId="ADAL" clId="{7843BEE4-BB9E-47EA-A812-8FBB036213D7}" dt="2026-09-03T01:58:42.081" v="214" actId="6549"/>
        <pc:sldMkLst>
          <pc:docMk/>
          <pc:sldMk cId="3993109663" sldId="284"/>
        </pc:sldMkLst>
        <pc:spChg chg="mod">
          <ac:chgData name="Daryanto, Ahmad" userId="61940c2a-8427-4576-9f17-0c8fab086415" providerId="ADAL" clId="{7843BEE4-BB9E-47EA-A812-8FBB036213D7}" dt="2026-09-03T01:57:45.117" v="205" actId="20577"/>
          <ac:spMkLst>
            <pc:docMk/>
            <pc:sldMk cId="3993109663" sldId="284"/>
            <ac:spMk id="2" creationId="{6D8CEF4F-4621-B398-795A-D6013FEE9D2B}"/>
          </ac:spMkLst>
        </pc:spChg>
        <pc:spChg chg="mod">
          <ac:chgData name="Daryanto, Ahmad" userId="61940c2a-8427-4576-9f17-0c8fab086415" providerId="ADAL" clId="{7843BEE4-BB9E-47EA-A812-8FBB036213D7}" dt="2026-09-03T01:58:42.081" v="214" actId="6549"/>
          <ac:spMkLst>
            <pc:docMk/>
            <pc:sldMk cId="3993109663" sldId="284"/>
            <ac:spMk id="4" creationId="{52A82FCD-3319-124D-1AFA-2E178C88A554}"/>
          </ac:spMkLst>
        </pc:spChg>
      </pc:sldChg>
      <pc:sldChg chg="modSp mod">
        <pc:chgData name="Daryanto, Ahmad" userId="61940c2a-8427-4576-9f17-0c8fab086415" providerId="ADAL" clId="{7843BEE4-BB9E-47EA-A812-8FBB036213D7}" dt="2026-09-09T02:45:55.077" v="647" actId="6549"/>
        <pc:sldMkLst>
          <pc:docMk/>
          <pc:sldMk cId="3777251816" sldId="440"/>
        </pc:sldMkLst>
        <pc:spChg chg="mod">
          <ac:chgData name="Daryanto, Ahmad" userId="61940c2a-8427-4576-9f17-0c8fab086415" providerId="ADAL" clId="{7843BEE4-BB9E-47EA-A812-8FBB036213D7}" dt="2026-09-09T02:45:55.077" v="647" actId="6549"/>
          <ac:spMkLst>
            <pc:docMk/>
            <pc:sldMk cId="3777251816" sldId="440"/>
            <ac:spMk id="3" creationId="{DE896EA1-E9E2-3BA9-0750-B21DE6E542A9}"/>
          </ac:spMkLst>
        </pc:spChg>
      </pc:sldChg>
      <pc:sldChg chg="addSp delSp modSp new mod ord modClrScheme chgLayout">
        <pc:chgData name="Daryanto, Ahmad" userId="61940c2a-8427-4576-9f17-0c8fab086415" providerId="ADAL" clId="{7843BEE4-BB9E-47EA-A812-8FBB036213D7}" dt="2026-09-03T02:01:00.796" v="217" actId="1076"/>
        <pc:sldMkLst>
          <pc:docMk/>
          <pc:sldMk cId="3776522715" sldId="463"/>
        </pc:sldMkLst>
        <pc:spChg chg="add mod ord">
          <ac:chgData name="Daryanto, Ahmad" userId="61940c2a-8427-4576-9f17-0c8fab086415" providerId="ADAL" clId="{7843BEE4-BB9E-47EA-A812-8FBB036213D7}" dt="2026-09-03T01:55:44.248" v="200" actId="113"/>
          <ac:spMkLst>
            <pc:docMk/>
            <pc:sldMk cId="3776522715" sldId="463"/>
            <ac:spMk id="4" creationId="{8347B388-FD1A-7163-5D5E-F244FF061E9A}"/>
          </ac:spMkLst>
        </pc:spChg>
        <pc:spChg chg="add mod ord">
          <ac:chgData name="Daryanto, Ahmad" userId="61940c2a-8427-4576-9f17-0c8fab086415" providerId="ADAL" clId="{7843BEE4-BB9E-47EA-A812-8FBB036213D7}" dt="2026-09-03T01:55:34.214" v="198" actId="255"/>
          <ac:spMkLst>
            <pc:docMk/>
            <pc:sldMk cId="3776522715" sldId="463"/>
            <ac:spMk id="5" creationId="{4FB75D51-0952-1FDE-B9A1-81E08A9B32D8}"/>
          </ac:spMkLst>
        </pc:spChg>
        <pc:spChg chg="add mod">
          <ac:chgData name="Daryanto, Ahmad" userId="61940c2a-8427-4576-9f17-0c8fab086415" providerId="ADAL" clId="{7843BEE4-BB9E-47EA-A812-8FBB036213D7}" dt="2026-09-03T01:59:16.235" v="215" actId="1076"/>
          <ac:spMkLst>
            <pc:docMk/>
            <pc:sldMk cId="3776522715" sldId="463"/>
            <ac:spMk id="7" creationId="{8D33BC3F-5EDD-B30F-5995-B7D1FA87FE6F}"/>
          </ac:spMkLst>
        </pc:spChg>
        <pc:picChg chg="add mod">
          <ac:chgData name="Daryanto, Ahmad" userId="61940c2a-8427-4576-9f17-0c8fab086415" providerId="ADAL" clId="{7843BEE4-BB9E-47EA-A812-8FBB036213D7}" dt="2026-09-03T02:01:00.796" v="217" actId="1076"/>
          <ac:picMkLst>
            <pc:docMk/>
            <pc:sldMk cId="3776522715" sldId="463"/>
            <ac:picMk id="3" creationId="{E02E76BE-65D6-0748-EB2E-BE0C080DD6C3}"/>
          </ac:picMkLst>
        </pc:picChg>
      </pc:sldChg>
      <pc:sldChg chg="addSp delSp modSp new mod modClrScheme chgLayout">
        <pc:chgData name="Daryanto, Ahmad" userId="61940c2a-8427-4576-9f17-0c8fab086415" providerId="ADAL" clId="{7843BEE4-BB9E-47EA-A812-8FBB036213D7}" dt="2026-09-03T02:11:32.119" v="234" actId="20577"/>
        <pc:sldMkLst>
          <pc:docMk/>
          <pc:sldMk cId="2589443243" sldId="464"/>
        </pc:sldMkLst>
        <pc:spChg chg="add mod">
          <ac:chgData name="Daryanto, Ahmad" userId="61940c2a-8427-4576-9f17-0c8fab086415" providerId="ADAL" clId="{7843BEE4-BB9E-47EA-A812-8FBB036213D7}" dt="2026-09-03T02:10:46.564" v="223" actId="1076"/>
          <ac:spMkLst>
            <pc:docMk/>
            <pc:sldMk cId="2589443243" sldId="464"/>
            <ac:spMk id="5" creationId="{CEA1B27C-A711-F67D-2130-D7414B426F93}"/>
          </ac:spMkLst>
        </pc:spChg>
        <pc:spChg chg="add mod ord">
          <ac:chgData name="Daryanto, Ahmad" userId="61940c2a-8427-4576-9f17-0c8fab086415" providerId="ADAL" clId="{7843BEE4-BB9E-47EA-A812-8FBB036213D7}" dt="2026-09-03T02:11:32.119" v="234" actId="20577"/>
          <ac:spMkLst>
            <pc:docMk/>
            <pc:sldMk cId="2589443243" sldId="464"/>
            <ac:spMk id="6" creationId="{D22154FD-FA5D-4BBD-6AE3-7376B581DFBA}"/>
          </ac:spMkLst>
        </pc:spChg>
      </pc:sldChg>
      <pc:sldChg chg="addSp delSp modSp new mod">
        <pc:chgData name="Daryanto, Ahmad" userId="61940c2a-8427-4576-9f17-0c8fab086415" providerId="ADAL" clId="{7843BEE4-BB9E-47EA-A812-8FBB036213D7}" dt="2026-09-09T02:44:08.468" v="584" actId="1076"/>
        <pc:sldMkLst>
          <pc:docMk/>
          <pc:sldMk cId="2718271772" sldId="465"/>
        </pc:sldMkLst>
        <pc:spChg chg="mod">
          <ac:chgData name="Daryanto, Ahmad" userId="61940c2a-8427-4576-9f17-0c8fab086415" providerId="ADAL" clId="{7843BEE4-BB9E-47EA-A812-8FBB036213D7}" dt="2026-09-07T02:43:18.680" v="253" actId="20577"/>
          <ac:spMkLst>
            <pc:docMk/>
            <pc:sldMk cId="2718271772" sldId="465"/>
            <ac:spMk id="2" creationId="{4E192365-EBA3-DCCE-1D55-A3F74708DDF5}"/>
          </ac:spMkLst>
        </pc:spChg>
        <pc:spChg chg="mod">
          <ac:chgData name="Daryanto, Ahmad" userId="61940c2a-8427-4576-9f17-0c8fab086415" providerId="ADAL" clId="{7843BEE4-BB9E-47EA-A812-8FBB036213D7}" dt="2026-09-07T02:45:03.439" v="341" actId="20577"/>
          <ac:spMkLst>
            <pc:docMk/>
            <pc:sldMk cId="2718271772" sldId="465"/>
            <ac:spMk id="3" creationId="{79B78040-2BB7-69A9-AEC4-1F5B9936AE8A}"/>
          </ac:spMkLst>
        </pc:spChg>
        <pc:spChg chg="add del mod">
          <ac:chgData name="Daryanto, Ahmad" userId="61940c2a-8427-4576-9f17-0c8fab086415" providerId="ADAL" clId="{7843BEE4-BB9E-47EA-A812-8FBB036213D7}" dt="2026-09-09T02:44:02.116" v="582" actId="478"/>
          <ac:spMkLst>
            <pc:docMk/>
            <pc:sldMk cId="2718271772" sldId="465"/>
            <ac:spMk id="5" creationId="{DBB4753E-11EA-790E-1D88-F2F8B69007AE}"/>
          </ac:spMkLst>
        </pc:spChg>
        <pc:spChg chg="add mod">
          <ac:chgData name="Daryanto, Ahmad" userId="61940c2a-8427-4576-9f17-0c8fab086415" providerId="ADAL" clId="{7843BEE4-BB9E-47EA-A812-8FBB036213D7}" dt="2026-09-09T02:44:08.468" v="584" actId="1076"/>
          <ac:spMkLst>
            <pc:docMk/>
            <pc:sldMk cId="2718271772" sldId="465"/>
            <ac:spMk id="6" creationId="{2E6FB601-BD24-C5E4-4B3E-4127FC16D403}"/>
          </ac:spMkLst>
        </pc:spChg>
      </pc:sldChg>
      <pc:sldChg chg="addSp modSp new mod modClrScheme chgLayout">
        <pc:chgData name="Daryanto, Ahmad" userId="61940c2a-8427-4576-9f17-0c8fab086415" providerId="ADAL" clId="{7843BEE4-BB9E-47EA-A812-8FBB036213D7}" dt="2026-09-07T02:48:40.128" v="581" actId="20577"/>
        <pc:sldMkLst>
          <pc:docMk/>
          <pc:sldMk cId="1534151502" sldId="466"/>
        </pc:sldMkLst>
        <pc:spChg chg="add mod">
          <ac:chgData name="Daryanto, Ahmad" userId="61940c2a-8427-4576-9f17-0c8fab086415" providerId="ADAL" clId="{7843BEE4-BB9E-47EA-A812-8FBB036213D7}" dt="2026-09-07T02:46:46.538" v="351" actId="20577"/>
          <ac:spMkLst>
            <pc:docMk/>
            <pc:sldMk cId="1534151502" sldId="466"/>
            <ac:spMk id="2" creationId="{83B03738-585C-B055-9EC9-8BEF62687F11}"/>
          </ac:spMkLst>
        </pc:spChg>
        <pc:spChg chg="add mod">
          <ac:chgData name="Daryanto, Ahmad" userId="61940c2a-8427-4576-9f17-0c8fab086415" providerId="ADAL" clId="{7843BEE4-BB9E-47EA-A812-8FBB036213D7}" dt="2026-09-07T02:48:40.128" v="581" actId="20577"/>
          <ac:spMkLst>
            <pc:docMk/>
            <pc:sldMk cId="1534151502" sldId="466"/>
            <ac:spMk id="3" creationId="{817B5D3C-CD8D-522B-6569-FE1ADF84B8C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C4754F-49C3-9E4C-A10B-1C483A475066}" type="datetimeFigureOut">
              <a:rPr lang="en-GB" smtClean="0"/>
              <a:t>09/09/2026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1C30A3-53B7-7940-B0DD-A121109DCA0C}" type="slidenum">
              <a:rPr lang="en-GB" smtClean="0"/>
              <a:t>‹#›</a:t>
            </a:fld>
            <a:endParaRPr lang="en-GB"/>
          </a:p>
        </p:txBody>
      </p:sp>
    </p:spTree>
    <p:extLst>
      <p:ext uri="{BB962C8B-B14F-4D97-AF65-F5344CB8AC3E}">
        <p14:creationId xmlns:p14="http://schemas.microsoft.com/office/powerpoint/2010/main" val="2303515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5F24CAC-BB67-554B-9042-A8ED7BF2CCE5}" type="slidenum">
              <a:rPr lang="en-GB" smtClean="0"/>
              <a:t>2</a:t>
            </a:fld>
            <a:endParaRPr lang="en-GB"/>
          </a:p>
        </p:txBody>
      </p:sp>
    </p:spTree>
    <p:extLst>
      <p:ext uri="{BB962C8B-B14F-4D97-AF65-F5344CB8AC3E}">
        <p14:creationId xmlns:p14="http://schemas.microsoft.com/office/powerpoint/2010/main" val="3003292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10064-0F78-ABDD-6C2B-161D86D6E54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D7DC924-0800-7E9C-D214-5A225FD09C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F3F98BE-8E2F-D7DE-DF27-8E41D0B77E24}"/>
              </a:ext>
            </a:extLst>
          </p:cNvPr>
          <p:cNvSpPr>
            <a:spLocks noGrp="1"/>
          </p:cNvSpPr>
          <p:nvPr>
            <p:ph type="dt" sz="half" idx="10"/>
          </p:nvPr>
        </p:nvSpPr>
        <p:spPr/>
        <p:txBody>
          <a:bodyPr/>
          <a:lstStyle/>
          <a:p>
            <a:fld id="{0AA943E6-AD7E-204A-A55D-4B76344E30EC}" type="datetimeFigureOut">
              <a:rPr lang="en-US" smtClean="0"/>
              <a:t>9/9/2026</a:t>
            </a:fld>
            <a:endParaRPr lang="en-US"/>
          </a:p>
        </p:txBody>
      </p:sp>
      <p:sp>
        <p:nvSpPr>
          <p:cNvPr id="5" name="Footer Placeholder 4">
            <a:extLst>
              <a:ext uri="{FF2B5EF4-FFF2-40B4-BE49-F238E27FC236}">
                <a16:creationId xmlns:a16="http://schemas.microsoft.com/office/drawing/2014/main" id="{3C98A89E-6020-0A32-D5AC-221080EC2C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1B7D25-F866-4C45-9E36-87212369CED6}"/>
              </a:ext>
            </a:extLst>
          </p:cNvPr>
          <p:cNvSpPr>
            <a:spLocks noGrp="1"/>
          </p:cNvSpPr>
          <p:nvPr>
            <p:ph type="sldNum" sz="quarter" idx="12"/>
          </p:nvPr>
        </p:nvSpPr>
        <p:spPr/>
        <p:txBody>
          <a:bodyPr/>
          <a:lstStyle/>
          <a:p>
            <a:fld id="{3C57C9BB-0F57-7D4E-9FB9-5BAF5D7F7C40}" type="slidenum">
              <a:rPr lang="en-US" smtClean="0"/>
              <a:t>‹#›</a:t>
            </a:fld>
            <a:endParaRPr lang="en-US"/>
          </a:p>
        </p:txBody>
      </p:sp>
    </p:spTree>
    <p:extLst>
      <p:ext uri="{BB962C8B-B14F-4D97-AF65-F5344CB8AC3E}">
        <p14:creationId xmlns:p14="http://schemas.microsoft.com/office/powerpoint/2010/main" val="925792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4276-87FA-0487-B4E8-7850226F234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182F48F-498D-C8B5-5153-D03B11DBAA2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40163A8-3E7B-1368-FC0A-1A4258DAFF9C}"/>
              </a:ext>
            </a:extLst>
          </p:cNvPr>
          <p:cNvSpPr>
            <a:spLocks noGrp="1"/>
          </p:cNvSpPr>
          <p:nvPr>
            <p:ph type="dt" sz="half" idx="10"/>
          </p:nvPr>
        </p:nvSpPr>
        <p:spPr/>
        <p:txBody>
          <a:bodyPr/>
          <a:lstStyle/>
          <a:p>
            <a:fld id="{0AA943E6-AD7E-204A-A55D-4B76344E30EC}" type="datetimeFigureOut">
              <a:rPr lang="en-US" smtClean="0"/>
              <a:t>9/9/2026</a:t>
            </a:fld>
            <a:endParaRPr lang="en-US"/>
          </a:p>
        </p:txBody>
      </p:sp>
      <p:sp>
        <p:nvSpPr>
          <p:cNvPr id="5" name="Footer Placeholder 4">
            <a:extLst>
              <a:ext uri="{FF2B5EF4-FFF2-40B4-BE49-F238E27FC236}">
                <a16:creationId xmlns:a16="http://schemas.microsoft.com/office/drawing/2014/main" id="{7D8D8357-CEB4-4898-14F6-D82CF4140D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AFF7FA-57F1-F0CF-2C83-47F85F0B9E43}"/>
              </a:ext>
            </a:extLst>
          </p:cNvPr>
          <p:cNvSpPr>
            <a:spLocks noGrp="1"/>
          </p:cNvSpPr>
          <p:nvPr>
            <p:ph type="sldNum" sz="quarter" idx="12"/>
          </p:nvPr>
        </p:nvSpPr>
        <p:spPr/>
        <p:txBody>
          <a:bodyPr/>
          <a:lstStyle/>
          <a:p>
            <a:fld id="{3C57C9BB-0F57-7D4E-9FB9-5BAF5D7F7C40}" type="slidenum">
              <a:rPr lang="en-US" smtClean="0"/>
              <a:t>‹#›</a:t>
            </a:fld>
            <a:endParaRPr lang="en-US"/>
          </a:p>
        </p:txBody>
      </p:sp>
    </p:spTree>
    <p:extLst>
      <p:ext uri="{BB962C8B-B14F-4D97-AF65-F5344CB8AC3E}">
        <p14:creationId xmlns:p14="http://schemas.microsoft.com/office/powerpoint/2010/main" val="17601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FE9DD-20AF-3731-7C13-0037AF98A84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C38D8F8-004A-BCB4-4953-706DD79FAC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DBE4146-AB3C-07D3-1051-0DA11BCA56AE}"/>
              </a:ext>
            </a:extLst>
          </p:cNvPr>
          <p:cNvSpPr>
            <a:spLocks noGrp="1"/>
          </p:cNvSpPr>
          <p:nvPr>
            <p:ph type="dt" sz="half" idx="10"/>
          </p:nvPr>
        </p:nvSpPr>
        <p:spPr/>
        <p:txBody>
          <a:bodyPr/>
          <a:lstStyle/>
          <a:p>
            <a:fld id="{0AA943E6-AD7E-204A-A55D-4B76344E30EC}" type="datetimeFigureOut">
              <a:rPr lang="en-US" smtClean="0"/>
              <a:t>9/9/2026</a:t>
            </a:fld>
            <a:endParaRPr lang="en-US"/>
          </a:p>
        </p:txBody>
      </p:sp>
      <p:sp>
        <p:nvSpPr>
          <p:cNvPr id="5" name="Footer Placeholder 4">
            <a:extLst>
              <a:ext uri="{FF2B5EF4-FFF2-40B4-BE49-F238E27FC236}">
                <a16:creationId xmlns:a16="http://schemas.microsoft.com/office/drawing/2014/main" id="{434FCB73-2E2A-67A9-989C-7D81A77E4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CD2ED4-B4A4-C34A-CA7D-B12BCCA2F785}"/>
              </a:ext>
            </a:extLst>
          </p:cNvPr>
          <p:cNvSpPr>
            <a:spLocks noGrp="1"/>
          </p:cNvSpPr>
          <p:nvPr>
            <p:ph type="sldNum" sz="quarter" idx="12"/>
          </p:nvPr>
        </p:nvSpPr>
        <p:spPr/>
        <p:txBody>
          <a:bodyPr/>
          <a:lstStyle/>
          <a:p>
            <a:fld id="{3C57C9BB-0F57-7D4E-9FB9-5BAF5D7F7C40}" type="slidenum">
              <a:rPr lang="en-US" smtClean="0"/>
              <a:t>‹#›</a:t>
            </a:fld>
            <a:endParaRPr lang="en-US"/>
          </a:p>
        </p:txBody>
      </p:sp>
    </p:spTree>
    <p:extLst>
      <p:ext uri="{BB962C8B-B14F-4D97-AF65-F5344CB8AC3E}">
        <p14:creationId xmlns:p14="http://schemas.microsoft.com/office/powerpoint/2010/main" val="418968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915AA-9826-12B9-A001-9876448A16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27B9F7B-A576-41D2-5363-D8CF1E01676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2A8DE66-4D91-0259-F864-C0C12A36181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3A2019D-62D6-6700-1365-AB95EAE501FF}"/>
              </a:ext>
            </a:extLst>
          </p:cNvPr>
          <p:cNvSpPr>
            <a:spLocks noGrp="1"/>
          </p:cNvSpPr>
          <p:nvPr>
            <p:ph type="dt" sz="half" idx="10"/>
          </p:nvPr>
        </p:nvSpPr>
        <p:spPr/>
        <p:txBody>
          <a:bodyPr/>
          <a:lstStyle/>
          <a:p>
            <a:fld id="{0AA943E6-AD7E-204A-A55D-4B76344E30EC}" type="datetimeFigureOut">
              <a:rPr lang="en-US" smtClean="0"/>
              <a:t>9/9/2026</a:t>
            </a:fld>
            <a:endParaRPr lang="en-US"/>
          </a:p>
        </p:txBody>
      </p:sp>
      <p:sp>
        <p:nvSpPr>
          <p:cNvPr id="6" name="Footer Placeholder 5">
            <a:extLst>
              <a:ext uri="{FF2B5EF4-FFF2-40B4-BE49-F238E27FC236}">
                <a16:creationId xmlns:a16="http://schemas.microsoft.com/office/drawing/2014/main" id="{0A6AA5BB-5DD9-BA18-A1E7-03E7EA1CAC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4F36F5-32F3-67AE-1389-0B9EA12CA07F}"/>
              </a:ext>
            </a:extLst>
          </p:cNvPr>
          <p:cNvSpPr>
            <a:spLocks noGrp="1"/>
          </p:cNvSpPr>
          <p:nvPr>
            <p:ph type="sldNum" sz="quarter" idx="12"/>
          </p:nvPr>
        </p:nvSpPr>
        <p:spPr/>
        <p:txBody>
          <a:bodyPr/>
          <a:lstStyle/>
          <a:p>
            <a:fld id="{3C57C9BB-0F57-7D4E-9FB9-5BAF5D7F7C40}" type="slidenum">
              <a:rPr lang="en-US" smtClean="0"/>
              <a:t>‹#›</a:t>
            </a:fld>
            <a:endParaRPr lang="en-US"/>
          </a:p>
        </p:txBody>
      </p:sp>
    </p:spTree>
    <p:extLst>
      <p:ext uri="{BB962C8B-B14F-4D97-AF65-F5344CB8AC3E}">
        <p14:creationId xmlns:p14="http://schemas.microsoft.com/office/powerpoint/2010/main" val="1173178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B4907-3640-C5A5-C9E1-E55C12E775B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FA1BF83-3452-F6DC-285C-97AC96B8C9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AF02ED0-8F71-E3B4-FB51-1B7F7C445BB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AF01BA4-6DC5-A594-483D-4A92C96D6B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E0AC430-C079-72CC-A087-6E442D92066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584615D-8550-8F71-4561-3BB6814A7252}"/>
              </a:ext>
            </a:extLst>
          </p:cNvPr>
          <p:cNvSpPr>
            <a:spLocks noGrp="1"/>
          </p:cNvSpPr>
          <p:nvPr>
            <p:ph type="dt" sz="half" idx="10"/>
          </p:nvPr>
        </p:nvSpPr>
        <p:spPr/>
        <p:txBody>
          <a:bodyPr/>
          <a:lstStyle/>
          <a:p>
            <a:fld id="{0AA943E6-AD7E-204A-A55D-4B76344E30EC}" type="datetimeFigureOut">
              <a:rPr lang="en-US" smtClean="0"/>
              <a:t>9/9/2026</a:t>
            </a:fld>
            <a:endParaRPr lang="en-US"/>
          </a:p>
        </p:txBody>
      </p:sp>
      <p:sp>
        <p:nvSpPr>
          <p:cNvPr id="8" name="Footer Placeholder 7">
            <a:extLst>
              <a:ext uri="{FF2B5EF4-FFF2-40B4-BE49-F238E27FC236}">
                <a16:creationId xmlns:a16="http://schemas.microsoft.com/office/drawing/2014/main" id="{68C9D5AE-F232-25D3-8B3D-2D99C9C284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F7457E8-269E-F063-6692-67B4CAEFBF35}"/>
              </a:ext>
            </a:extLst>
          </p:cNvPr>
          <p:cNvSpPr>
            <a:spLocks noGrp="1"/>
          </p:cNvSpPr>
          <p:nvPr>
            <p:ph type="sldNum" sz="quarter" idx="12"/>
          </p:nvPr>
        </p:nvSpPr>
        <p:spPr/>
        <p:txBody>
          <a:bodyPr/>
          <a:lstStyle/>
          <a:p>
            <a:fld id="{3C57C9BB-0F57-7D4E-9FB9-5BAF5D7F7C40}" type="slidenum">
              <a:rPr lang="en-US" smtClean="0"/>
              <a:t>‹#›</a:t>
            </a:fld>
            <a:endParaRPr lang="en-US"/>
          </a:p>
        </p:txBody>
      </p:sp>
    </p:spTree>
    <p:extLst>
      <p:ext uri="{BB962C8B-B14F-4D97-AF65-F5344CB8AC3E}">
        <p14:creationId xmlns:p14="http://schemas.microsoft.com/office/powerpoint/2010/main" val="814234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BA42B-2B09-13F5-07C0-37E7EDF6E27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A6DED53-74C4-6FDA-E94E-E133BDBC3064}"/>
              </a:ext>
            </a:extLst>
          </p:cNvPr>
          <p:cNvSpPr>
            <a:spLocks noGrp="1"/>
          </p:cNvSpPr>
          <p:nvPr>
            <p:ph type="dt" sz="half" idx="10"/>
          </p:nvPr>
        </p:nvSpPr>
        <p:spPr/>
        <p:txBody>
          <a:bodyPr/>
          <a:lstStyle/>
          <a:p>
            <a:fld id="{0AA943E6-AD7E-204A-A55D-4B76344E30EC}" type="datetimeFigureOut">
              <a:rPr lang="en-US" smtClean="0"/>
              <a:t>9/9/2026</a:t>
            </a:fld>
            <a:endParaRPr lang="en-US"/>
          </a:p>
        </p:txBody>
      </p:sp>
      <p:sp>
        <p:nvSpPr>
          <p:cNvPr id="4" name="Footer Placeholder 3">
            <a:extLst>
              <a:ext uri="{FF2B5EF4-FFF2-40B4-BE49-F238E27FC236}">
                <a16:creationId xmlns:a16="http://schemas.microsoft.com/office/drawing/2014/main" id="{469B5B99-8EC6-C764-4865-216612CD9D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3B2B2F-2D11-7761-9B0B-D6AB959DC416}"/>
              </a:ext>
            </a:extLst>
          </p:cNvPr>
          <p:cNvSpPr>
            <a:spLocks noGrp="1"/>
          </p:cNvSpPr>
          <p:nvPr>
            <p:ph type="sldNum" sz="quarter" idx="12"/>
          </p:nvPr>
        </p:nvSpPr>
        <p:spPr/>
        <p:txBody>
          <a:bodyPr/>
          <a:lstStyle/>
          <a:p>
            <a:fld id="{3C57C9BB-0F57-7D4E-9FB9-5BAF5D7F7C40}" type="slidenum">
              <a:rPr lang="en-US" smtClean="0"/>
              <a:t>‹#›</a:t>
            </a:fld>
            <a:endParaRPr lang="en-US"/>
          </a:p>
        </p:txBody>
      </p:sp>
    </p:spTree>
    <p:extLst>
      <p:ext uri="{BB962C8B-B14F-4D97-AF65-F5344CB8AC3E}">
        <p14:creationId xmlns:p14="http://schemas.microsoft.com/office/powerpoint/2010/main" val="2253040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9ADACA-6BEC-FD6B-567B-B7C73BE98650}"/>
              </a:ext>
            </a:extLst>
          </p:cNvPr>
          <p:cNvSpPr>
            <a:spLocks noGrp="1"/>
          </p:cNvSpPr>
          <p:nvPr>
            <p:ph type="dt" sz="half" idx="10"/>
          </p:nvPr>
        </p:nvSpPr>
        <p:spPr/>
        <p:txBody>
          <a:bodyPr/>
          <a:lstStyle/>
          <a:p>
            <a:fld id="{0AA943E6-AD7E-204A-A55D-4B76344E30EC}" type="datetimeFigureOut">
              <a:rPr lang="en-US" smtClean="0"/>
              <a:t>9/9/2026</a:t>
            </a:fld>
            <a:endParaRPr lang="en-US"/>
          </a:p>
        </p:txBody>
      </p:sp>
      <p:sp>
        <p:nvSpPr>
          <p:cNvPr id="3" name="Footer Placeholder 2">
            <a:extLst>
              <a:ext uri="{FF2B5EF4-FFF2-40B4-BE49-F238E27FC236}">
                <a16:creationId xmlns:a16="http://schemas.microsoft.com/office/drawing/2014/main" id="{E4BD60EB-A3F4-FEE7-1B66-9C69A64D66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A4AC8C-3BB1-A791-B8F7-5D0BBAC32D8C}"/>
              </a:ext>
            </a:extLst>
          </p:cNvPr>
          <p:cNvSpPr>
            <a:spLocks noGrp="1"/>
          </p:cNvSpPr>
          <p:nvPr>
            <p:ph type="sldNum" sz="quarter" idx="12"/>
          </p:nvPr>
        </p:nvSpPr>
        <p:spPr/>
        <p:txBody>
          <a:bodyPr/>
          <a:lstStyle/>
          <a:p>
            <a:fld id="{3C57C9BB-0F57-7D4E-9FB9-5BAF5D7F7C40}" type="slidenum">
              <a:rPr lang="en-US" smtClean="0"/>
              <a:t>‹#›</a:t>
            </a:fld>
            <a:endParaRPr lang="en-US"/>
          </a:p>
        </p:txBody>
      </p:sp>
    </p:spTree>
    <p:extLst>
      <p:ext uri="{BB962C8B-B14F-4D97-AF65-F5344CB8AC3E}">
        <p14:creationId xmlns:p14="http://schemas.microsoft.com/office/powerpoint/2010/main" val="1579732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1FD96-EF6A-27F7-311E-DDD8C45093E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8104F6E-F669-74CB-FD31-745CB14354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370FF40-D9D8-19AE-5EF7-A4B054C63B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160792E-F27C-2364-0784-807B412294CB}"/>
              </a:ext>
            </a:extLst>
          </p:cNvPr>
          <p:cNvSpPr>
            <a:spLocks noGrp="1"/>
          </p:cNvSpPr>
          <p:nvPr>
            <p:ph type="dt" sz="half" idx="10"/>
          </p:nvPr>
        </p:nvSpPr>
        <p:spPr/>
        <p:txBody>
          <a:bodyPr/>
          <a:lstStyle/>
          <a:p>
            <a:fld id="{0AA943E6-AD7E-204A-A55D-4B76344E30EC}" type="datetimeFigureOut">
              <a:rPr lang="en-US" smtClean="0"/>
              <a:t>9/9/2026</a:t>
            </a:fld>
            <a:endParaRPr lang="en-US"/>
          </a:p>
        </p:txBody>
      </p:sp>
      <p:sp>
        <p:nvSpPr>
          <p:cNvPr id="6" name="Footer Placeholder 5">
            <a:extLst>
              <a:ext uri="{FF2B5EF4-FFF2-40B4-BE49-F238E27FC236}">
                <a16:creationId xmlns:a16="http://schemas.microsoft.com/office/drawing/2014/main" id="{EC06940C-BC48-12BD-4AB0-0A8E79982F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FCBCA9-24FC-C7DA-3F0E-FAA6D7D81131}"/>
              </a:ext>
            </a:extLst>
          </p:cNvPr>
          <p:cNvSpPr>
            <a:spLocks noGrp="1"/>
          </p:cNvSpPr>
          <p:nvPr>
            <p:ph type="sldNum" sz="quarter" idx="12"/>
          </p:nvPr>
        </p:nvSpPr>
        <p:spPr/>
        <p:txBody>
          <a:bodyPr/>
          <a:lstStyle/>
          <a:p>
            <a:fld id="{3C57C9BB-0F57-7D4E-9FB9-5BAF5D7F7C40}" type="slidenum">
              <a:rPr lang="en-US" smtClean="0"/>
              <a:t>‹#›</a:t>
            </a:fld>
            <a:endParaRPr lang="en-US"/>
          </a:p>
        </p:txBody>
      </p:sp>
    </p:spTree>
    <p:extLst>
      <p:ext uri="{BB962C8B-B14F-4D97-AF65-F5344CB8AC3E}">
        <p14:creationId xmlns:p14="http://schemas.microsoft.com/office/powerpoint/2010/main" val="1326536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FEA42-4B3B-9FAF-CF94-DF463B48D2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F31F9A2-DC1D-3929-F110-FB852DE486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408961-E412-048A-F33C-1F50BF017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E5476E1-D051-D8DE-EC32-D56598B83993}"/>
              </a:ext>
            </a:extLst>
          </p:cNvPr>
          <p:cNvSpPr>
            <a:spLocks noGrp="1"/>
          </p:cNvSpPr>
          <p:nvPr>
            <p:ph type="dt" sz="half" idx="10"/>
          </p:nvPr>
        </p:nvSpPr>
        <p:spPr/>
        <p:txBody>
          <a:bodyPr/>
          <a:lstStyle/>
          <a:p>
            <a:fld id="{0AA943E6-AD7E-204A-A55D-4B76344E30EC}" type="datetimeFigureOut">
              <a:rPr lang="en-US" smtClean="0"/>
              <a:t>9/9/2026</a:t>
            </a:fld>
            <a:endParaRPr lang="en-US"/>
          </a:p>
        </p:txBody>
      </p:sp>
      <p:sp>
        <p:nvSpPr>
          <p:cNvPr id="6" name="Footer Placeholder 5">
            <a:extLst>
              <a:ext uri="{FF2B5EF4-FFF2-40B4-BE49-F238E27FC236}">
                <a16:creationId xmlns:a16="http://schemas.microsoft.com/office/drawing/2014/main" id="{33F08D62-1970-70D5-BE1E-9A6ADAD75D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7D595F-CE0E-A3A9-EFD6-BB590CAB146F}"/>
              </a:ext>
            </a:extLst>
          </p:cNvPr>
          <p:cNvSpPr>
            <a:spLocks noGrp="1"/>
          </p:cNvSpPr>
          <p:nvPr>
            <p:ph type="sldNum" sz="quarter" idx="12"/>
          </p:nvPr>
        </p:nvSpPr>
        <p:spPr/>
        <p:txBody>
          <a:bodyPr/>
          <a:lstStyle/>
          <a:p>
            <a:fld id="{3C57C9BB-0F57-7D4E-9FB9-5BAF5D7F7C40}" type="slidenum">
              <a:rPr lang="en-US" smtClean="0"/>
              <a:t>‹#›</a:t>
            </a:fld>
            <a:endParaRPr lang="en-US"/>
          </a:p>
        </p:txBody>
      </p:sp>
    </p:spTree>
    <p:extLst>
      <p:ext uri="{BB962C8B-B14F-4D97-AF65-F5344CB8AC3E}">
        <p14:creationId xmlns:p14="http://schemas.microsoft.com/office/powerpoint/2010/main" val="3619469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5D5A1-1DDB-2F91-06FF-5A1C21BF063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645CB6E-49F9-D4E4-CCB9-C990CECC51C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8B79131-01E8-1051-A534-19DBF6A184AD}"/>
              </a:ext>
            </a:extLst>
          </p:cNvPr>
          <p:cNvSpPr>
            <a:spLocks noGrp="1"/>
          </p:cNvSpPr>
          <p:nvPr>
            <p:ph type="dt" sz="half" idx="10"/>
          </p:nvPr>
        </p:nvSpPr>
        <p:spPr/>
        <p:txBody>
          <a:bodyPr/>
          <a:lstStyle/>
          <a:p>
            <a:fld id="{0AA943E6-AD7E-204A-A55D-4B76344E30EC}" type="datetimeFigureOut">
              <a:rPr lang="en-US" smtClean="0"/>
              <a:t>9/9/2026</a:t>
            </a:fld>
            <a:endParaRPr lang="en-US"/>
          </a:p>
        </p:txBody>
      </p:sp>
      <p:sp>
        <p:nvSpPr>
          <p:cNvPr id="5" name="Footer Placeholder 4">
            <a:extLst>
              <a:ext uri="{FF2B5EF4-FFF2-40B4-BE49-F238E27FC236}">
                <a16:creationId xmlns:a16="http://schemas.microsoft.com/office/drawing/2014/main" id="{920E74F9-6EF3-071C-2FA2-C07158792A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5CD7EA-1C49-AA85-0A35-AE73E911DFFA}"/>
              </a:ext>
            </a:extLst>
          </p:cNvPr>
          <p:cNvSpPr>
            <a:spLocks noGrp="1"/>
          </p:cNvSpPr>
          <p:nvPr>
            <p:ph type="sldNum" sz="quarter" idx="12"/>
          </p:nvPr>
        </p:nvSpPr>
        <p:spPr/>
        <p:txBody>
          <a:bodyPr/>
          <a:lstStyle/>
          <a:p>
            <a:fld id="{3C57C9BB-0F57-7D4E-9FB9-5BAF5D7F7C40}" type="slidenum">
              <a:rPr lang="en-US" smtClean="0"/>
              <a:t>‹#›</a:t>
            </a:fld>
            <a:endParaRPr lang="en-US"/>
          </a:p>
        </p:txBody>
      </p:sp>
    </p:spTree>
    <p:extLst>
      <p:ext uri="{BB962C8B-B14F-4D97-AF65-F5344CB8AC3E}">
        <p14:creationId xmlns:p14="http://schemas.microsoft.com/office/powerpoint/2010/main" val="3003614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1A16C7-72C4-A984-A7F4-5F6C6117076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9A6A404-237F-48B2-F708-6B9C8DDA626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0C9FC7-92BC-C3B9-FF23-CC2FB65DF193}"/>
              </a:ext>
            </a:extLst>
          </p:cNvPr>
          <p:cNvSpPr>
            <a:spLocks noGrp="1"/>
          </p:cNvSpPr>
          <p:nvPr>
            <p:ph type="dt" sz="half" idx="10"/>
          </p:nvPr>
        </p:nvSpPr>
        <p:spPr/>
        <p:txBody>
          <a:bodyPr/>
          <a:lstStyle/>
          <a:p>
            <a:fld id="{0AA943E6-AD7E-204A-A55D-4B76344E30EC}" type="datetimeFigureOut">
              <a:rPr lang="en-US" smtClean="0"/>
              <a:t>9/9/2026</a:t>
            </a:fld>
            <a:endParaRPr lang="en-US"/>
          </a:p>
        </p:txBody>
      </p:sp>
      <p:sp>
        <p:nvSpPr>
          <p:cNvPr id="5" name="Footer Placeholder 4">
            <a:extLst>
              <a:ext uri="{FF2B5EF4-FFF2-40B4-BE49-F238E27FC236}">
                <a16:creationId xmlns:a16="http://schemas.microsoft.com/office/drawing/2014/main" id="{F538FBC5-F7C1-71C6-BC8B-CF5B46680E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944CA-1B5A-E1DE-8B3B-52AF55DFE68B}"/>
              </a:ext>
            </a:extLst>
          </p:cNvPr>
          <p:cNvSpPr>
            <a:spLocks noGrp="1"/>
          </p:cNvSpPr>
          <p:nvPr>
            <p:ph type="sldNum" sz="quarter" idx="12"/>
          </p:nvPr>
        </p:nvSpPr>
        <p:spPr/>
        <p:txBody>
          <a:bodyPr/>
          <a:lstStyle/>
          <a:p>
            <a:fld id="{3C57C9BB-0F57-7D4E-9FB9-5BAF5D7F7C40}" type="slidenum">
              <a:rPr lang="en-US" smtClean="0"/>
              <a:t>‹#›</a:t>
            </a:fld>
            <a:endParaRPr lang="en-US"/>
          </a:p>
        </p:txBody>
      </p:sp>
    </p:spTree>
    <p:extLst>
      <p:ext uri="{BB962C8B-B14F-4D97-AF65-F5344CB8AC3E}">
        <p14:creationId xmlns:p14="http://schemas.microsoft.com/office/powerpoint/2010/main" val="3941258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F1E95D-A4A9-5B70-AB48-8A3CFD506E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03182D5-BF75-496B-E133-251F23F36C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A3275D8-DF50-9BE1-13BC-355D3B361E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A943E6-AD7E-204A-A55D-4B76344E30EC}" type="datetimeFigureOut">
              <a:rPr lang="en-US" smtClean="0"/>
              <a:t>9/9/2026</a:t>
            </a:fld>
            <a:endParaRPr lang="en-US"/>
          </a:p>
        </p:txBody>
      </p:sp>
      <p:sp>
        <p:nvSpPr>
          <p:cNvPr id="5" name="Footer Placeholder 4">
            <a:extLst>
              <a:ext uri="{FF2B5EF4-FFF2-40B4-BE49-F238E27FC236}">
                <a16:creationId xmlns:a16="http://schemas.microsoft.com/office/drawing/2014/main" id="{38C936F6-96EE-9E36-6CF5-51F658A7D3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4BA9FC-6494-6CBF-2A82-E2C5D2BFBE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57C9BB-0F57-7D4E-9FB9-5BAF5D7F7C40}" type="slidenum">
              <a:rPr lang="en-US" smtClean="0"/>
              <a:t>‹#›</a:t>
            </a:fld>
            <a:endParaRPr lang="en-US"/>
          </a:p>
        </p:txBody>
      </p:sp>
    </p:spTree>
    <p:extLst>
      <p:ext uri="{BB962C8B-B14F-4D97-AF65-F5344CB8AC3E}">
        <p14:creationId xmlns:p14="http://schemas.microsoft.com/office/powerpoint/2010/main" val="18522825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ahdar1.github.io/FI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dJFAkPLrbx4&amp;t=28s" TargetMode="Externa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localhost:3645/references.html#ref-stock2015introductio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localhost:3645/references.html#ref-daryanto2020tutorial" TargetMode="External"/><Relationship Id="rId2" Type="http://schemas.openxmlformats.org/officeDocument/2006/relationships/hyperlink" Target="http://localhost:3645/references.html#ref-stock2015introductio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tqmp.org/Vignettes/vol16-5/v008/"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47B388-FD1A-7163-5D5E-F244FF061E9A}"/>
              </a:ext>
            </a:extLst>
          </p:cNvPr>
          <p:cNvSpPr>
            <a:spLocks noGrp="1"/>
          </p:cNvSpPr>
          <p:nvPr>
            <p:ph type="ctrTitle"/>
          </p:nvPr>
        </p:nvSpPr>
        <p:spPr/>
        <p:txBody>
          <a:bodyPr/>
          <a:lstStyle/>
          <a:p>
            <a:r>
              <a:rPr lang="en-GB" b="1" dirty="0">
                <a:solidFill>
                  <a:srgbClr val="FF0000"/>
                </a:solidFill>
              </a:rPr>
              <a:t>Workshop on Data Analysis</a:t>
            </a:r>
          </a:p>
        </p:txBody>
      </p:sp>
      <p:sp>
        <p:nvSpPr>
          <p:cNvPr id="5" name="Subtitle 4">
            <a:extLst>
              <a:ext uri="{FF2B5EF4-FFF2-40B4-BE49-F238E27FC236}">
                <a16:creationId xmlns:a16="http://schemas.microsoft.com/office/drawing/2014/main" id="{4FB75D51-0952-1FDE-B9A1-81E08A9B32D8}"/>
              </a:ext>
            </a:extLst>
          </p:cNvPr>
          <p:cNvSpPr>
            <a:spLocks noGrp="1"/>
          </p:cNvSpPr>
          <p:nvPr>
            <p:ph type="subTitle" idx="1"/>
          </p:nvPr>
        </p:nvSpPr>
        <p:spPr/>
        <p:txBody>
          <a:bodyPr>
            <a:normAutofit/>
          </a:bodyPr>
          <a:lstStyle/>
          <a:p>
            <a:r>
              <a:rPr lang="en-GB" sz="3200" dirty="0"/>
              <a:t>Professor Ahmad Daryanto</a:t>
            </a:r>
          </a:p>
          <a:p>
            <a:r>
              <a:rPr lang="en-GB" sz="3200" dirty="0"/>
              <a:t>Lancaster University</a:t>
            </a:r>
          </a:p>
        </p:txBody>
      </p:sp>
      <p:sp>
        <p:nvSpPr>
          <p:cNvPr id="7" name="TextBox 6">
            <a:extLst>
              <a:ext uri="{FF2B5EF4-FFF2-40B4-BE49-F238E27FC236}">
                <a16:creationId xmlns:a16="http://schemas.microsoft.com/office/drawing/2014/main" id="{8D33BC3F-5EDD-B30F-5995-B7D1FA87FE6F}"/>
              </a:ext>
            </a:extLst>
          </p:cNvPr>
          <p:cNvSpPr txBox="1"/>
          <p:nvPr/>
        </p:nvSpPr>
        <p:spPr>
          <a:xfrm>
            <a:off x="2775857" y="4950807"/>
            <a:ext cx="6096000" cy="1569660"/>
          </a:xfrm>
          <a:prstGeom prst="rect">
            <a:avLst/>
          </a:prstGeom>
          <a:noFill/>
        </p:spPr>
        <p:txBody>
          <a:bodyPr wrap="square">
            <a:spAutoFit/>
          </a:bodyPr>
          <a:lstStyle/>
          <a:p>
            <a:pPr algn="ctr"/>
            <a:endParaRPr lang="en-GB" sz="2400" dirty="0"/>
          </a:p>
          <a:p>
            <a:pPr algn="ctr"/>
            <a:r>
              <a:rPr lang="en-GB" sz="2400" dirty="0"/>
              <a:t>Presented at </a:t>
            </a:r>
            <a:r>
              <a:rPr lang="en-GB" sz="2400" dirty="0" err="1"/>
              <a:t>Fakultas</a:t>
            </a:r>
            <a:r>
              <a:rPr lang="en-GB" sz="2400" dirty="0"/>
              <a:t> </a:t>
            </a:r>
            <a:r>
              <a:rPr lang="en-GB" sz="2400" dirty="0" err="1"/>
              <a:t>Ilmu</a:t>
            </a:r>
            <a:r>
              <a:rPr lang="en-GB" sz="2400" dirty="0"/>
              <a:t> </a:t>
            </a:r>
            <a:r>
              <a:rPr lang="en-GB" sz="2400" dirty="0" err="1"/>
              <a:t>Administrasi</a:t>
            </a:r>
            <a:endParaRPr lang="en-GB" sz="2400" dirty="0"/>
          </a:p>
          <a:p>
            <a:pPr algn="ctr"/>
            <a:r>
              <a:rPr lang="en-GB" sz="2400" dirty="0"/>
              <a:t>Universitas </a:t>
            </a:r>
            <a:r>
              <a:rPr lang="en-GB" sz="2400" dirty="0" err="1"/>
              <a:t>Brawijaya</a:t>
            </a:r>
            <a:r>
              <a:rPr lang="en-GB" sz="2400" dirty="0"/>
              <a:t>, Malang</a:t>
            </a:r>
          </a:p>
          <a:p>
            <a:pPr algn="ctr"/>
            <a:r>
              <a:rPr lang="en-GB" sz="2400" dirty="0"/>
              <a:t>September 2026</a:t>
            </a:r>
          </a:p>
        </p:txBody>
      </p:sp>
      <p:pic>
        <p:nvPicPr>
          <p:cNvPr id="3" name="Picture 2">
            <a:extLst>
              <a:ext uri="{FF2B5EF4-FFF2-40B4-BE49-F238E27FC236}">
                <a16:creationId xmlns:a16="http://schemas.microsoft.com/office/drawing/2014/main" id="{E02E76BE-65D6-0748-EB2E-BE0C080DD6C3}"/>
              </a:ext>
            </a:extLst>
          </p:cNvPr>
          <p:cNvPicPr>
            <a:picLocks noChangeAspect="1"/>
          </p:cNvPicPr>
          <p:nvPr/>
        </p:nvPicPr>
        <p:blipFill>
          <a:blip r:embed="rId2"/>
          <a:stretch>
            <a:fillRect/>
          </a:stretch>
        </p:blipFill>
        <p:spPr>
          <a:xfrm>
            <a:off x="9060822" y="530155"/>
            <a:ext cx="2495898" cy="1000265"/>
          </a:xfrm>
          <a:prstGeom prst="rect">
            <a:avLst/>
          </a:prstGeom>
        </p:spPr>
      </p:pic>
    </p:spTree>
    <p:extLst>
      <p:ext uri="{BB962C8B-B14F-4D97-AF65-F5344CB8AC3E}">
        <p14:creationId xmlns:p14="http://schemas.microsoft.com/office/powerpoint/2010/main" val="3776522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FB1F7E-E43C-2278-7983-D22247A2C1B5}"/>
              </a:ext>
            </a:extLst>
          </p:cNvPr>
          <p:cNvSpPr>
            <a:spLocks noGrp="1"/>
          </p:cNvSpPr>
          <p:nvPr>
            <p:ph type="ctrTitle"/>
          </p:nvPr>
        </p:nvSpPr>
        <p:spPr>
          <a:xfrm>
            <a:off x="1831889" y="1134119"/>
            <a:ext cx="8528222" cy="2387600"/>
          </a:xfrm>
        </p:spPr>
        <p:txBody>
          <a:bodyPr>
            <a:normAutofit/>
          </a:bodyPr>
          <a:lstStyle/>
          <a:p>
            <a:r>
              <a:rPr lang="en-GB" sz="5400" dirty="0">
                <a:solidFill>
                  <a:srgbClr val="FF0000"/>
                </a:solidFill>
              </a:rPr>
              <a:t>Chapter 14:</a:t>
            </a:r>
            <a:br>
              <a:rPr lang="en-GB" sz="5400" dirty="0">
                <a:solidFill>
                  <a:srgbClr val="FF0000"/>
                </a:solidFill>
              </a:rPr>
            </a:br>
            <a:r>
              <a:rPr lang="en-GB" sz="5400" dirty="0">
                <a:solidFill>
                  <a:srgbClr val="FF0000"/>
                </a:solidFill>
              </a:rPr>
              <a:t>Diagnostic</a:t>
            </a:r>
          </a:p>
        </p:txBody>
      </p:sp>
      <p:sp>
        <p:nvSpPr>
          <p:cNvPr id="6" name="Subtitle 5">
            <a:extLst>
              <a:ext uri="{FF2B5EF4-FFF2-40B4-BE49-F238E27FC236}">
                <a16:creationId xmlns:a16="http://schemas.microsoft.com/office/drawing/2014/main" id="{E259DEF7-3367-EA40-3DD4-BE25FE47A982}"/>
              </a:ext>
            </a:extLst>
          </p:cNvPr>
          <p:cNvSpPr>
            <a:spLocks noGrp="1"/>
          </p:cNvSpPr>
          <p:nvPr>
            <p:ph type="subTitle" idx="1"/>
          </p:nvPr>
        </p:nvSpPr>
        <p:spPr/>
        <p:txBody>
          <a:bodyPr>
            <a:normAutofit/>
          </a:bodyPr>
          <a:lstStyle/>
          <a:p>
            <a:r>
              <a:rPr lang="en-GB" sz="2400" dirty="0"/>
              <a:t>Textbook: Ahmad Daryanto, Introduction to Quantitative Research Methods for Marketing With SPSS and R: Tools and Techniques, Routledge. 2024</a:t>
            </a:r>
          </a:p>
        </p:txBody>
      </p:sp>
    </p:spTree>
    <p:extLst>
      <p:ext uri="{BB962C8B-B14F-4D97-AF65-F5344CB8AC3E}">
        <p14:creationId xmlns:p14="http://schemas.microsoft.com/office/powerpoint/2010/main" val="2087706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2365-EBA3-DCCE-1D55-A3F74708DDF5}"/>
              </a:ext>
            </a:extLst>
          </p:cNvPr>
          <p:cNvSpPr>
            <a:spLocks noGrp="1"/>
          </p:cNvSpPr>
          <p:nvPr>
            <p:ph type="title"/>
          </p:nvPr>
        </p:nvSpPr>
        <p:spPr/>
        <p:txBody>
          <a:bodyPr/>
          <a:lstStyle/>
          <a:p>
            <a:r>
              <a:rPr lang="en-GB" dirty="0"/>
              <a:t>To start</a:t>
            </a:r>
          </a:p>
        </p:txBody>
      </p:sp>
      <p:sp>
        <p:nvSpPr>
          <p:cNvPr id="3" name="Content Placeholder 2">
            <a:extLst>
              <a:ext uri="{FF2B5EF4-FFF2-40B4-BE49-F238E27FC236}">
                <a16:creationId xmlns:a16="http://schemas.microsoft.com/office/drawing/2014/main" id="{79B78040-2BB7-69A9-AEC4-1F5B9936AE8A}"/>
              </a:ext>
            </a:extLst>
          </p:cNvPr>
          <p:cNvSpPr>
            <a:spLocks noGrp="1"/>
          </p:cNvSpPr>
          <p:nvPr>
            <p:ph idx="1"/>
          </p:nvPr>
        </p:nvSpPr>
        <p:spPr/>
        <p:txBody>
          <a:bodyPr/>
          <a:lstStyle/>
          <a:p>
            <a:r>
              <a:rPr lang="en-GB" dirty="0"/>
              <a:t>Click</a:t>
            </a:r>
          </a:p>
          <a:p>
            <a:endParaRPr lang="en-GB" dirty="0"/>
          </a:p>
          <a:p>
            <a:r>
              <a:rPr lang="en-GB" dirty="0"/>
              <a:t>Download SPSS macros, datasets, these slides, pdf articles.</a:t>
            </a:r>
          </a:p>
          <a:p>
            <a:endParaRPr lang="en-GB" dirty="0"/>
          </a:p>
        </p:txBody>
      </p:sp>
      <p:sp>
        <p:nvSpPr>
          <p:cNvPr id="6" name="TextBox 5">
            <a:extLst>
              <a:ext uri="{FF2B5EF4-FFF2-40B4-BE49-F238E27FC236}">
                <a16:creationId xmlns:a16="http://schemas.microsoft.com/office/drawing/2014/main" id="{2E6FB601-BD24-C5E4-4B3E-4127FC16D403}"/>
              </a:ext>
            </a:extLst>
          </p:cNvPr>
          <p:cNvSpPr txBox="1"/>
          <p:nvPr/>
        </p:nvSpPr>
        <p:spPr>
          <a:xfrm>
            <a:off x="2438400" y="1825625"/>
            <a:ext cx="6096000" cy="369332"/>
          </a:xfrm>
          <a:prstGeom prst="rect">
            <a:avLst/>
          </a:prstGeom>
          <a:noFill/>
        </p:spPr>
        <p:txBody>
          <a:bodyPr wrap="square">
            <a:spAutoFit/>
          </a:bodyPr>
          <a:lstStyle/>
          <a:p>
            <a:r>
              <a:rPr lang="en-GB" dirty="0">
                <a:hlinkClick r:id="rId2"/>
              </a:rPr>
              <a:t>FIA Workshop Resources</a:t>
            </a:r>
            <a:endParaRPr lang="en-GB" dirty="0"/>
          </a:p>
        </p:txBody>
      </p:sp>
    </p:spTree>
    <p:extLst>
      <p:ext uri="{BB962C8B-B14F-4D97-AF65-F5344CB8AC3E}">
        <p14:creationId xmlns:p14="http://schemas.microsoft.com/office/powerpoint/2010/main" val="2718271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0531-D4A9-FCA2-D246-CB090A6E5D02}"/>
              </a:ext>
            </a:extLst>
          </p:cNvPr>
          <p:cNvSpPr>
            <a:spLocks noGrp="1"/>
          </p:cNvSpPr>
          <p:nvPr>
            <p:ph type="title"/>
          </p:nvPr>
        </p:nvSpPr>
        <p:spPr/>
        <p:txBody>
          <a:bodyPr/>
          <a:lstStyle/>
          <a:p>
            <a:r>
              <a:rPr lang="en-GB" dirty="0">
                <a:solidFill>
                  <a:srgbClr val="FF0000"/>
                </a:solidFill>
              </a:rPr>
              <a:t>Learning Objectives</a:t>
            </a:r>
          </a:p>
        </p:txBody>
      </p:sp>
      <p:sp>
        <p:nvSpPr>
          <p:cNvPr id="3" name="Content Placeholder 2">
            <a:extLst>
              <a:ext uri="{FF2B5EF4-FFF2-40B4-BE49-F238E27FC236}">
                <a16:creationId xmlns:a16="http://schemas.microsoft.com/office/drawing/2014/main" id="{DE896EA1-E9E2-3BA9-0750-B21DE6E542A9}"/>
              </a:ext>
            </a:extLst>
          </p:cNvPr>
          <p:cNvSpPr>
            <a:spLocks noGrp="1"/>
          </p:cNvSpPr>
          <p:nvPr>
            <p:ph idx="1"/>
          </p:nvPr>
        </p:nvSpPr>
        <p:spPr/>
        <p:txBody>
          <a:bodyPr/>
          <a:lstStyle/>
          <a:p>
            <a:pPr>
              <a:buFont typeface="Arial" panose="020B0604020202020204" pitchFamily="34" charset="0"/>
              <a:buChar char="•"/>
            </a:pPr>
            <a:r>
              <a:rPr lang="en-GB" dirty="0">
                <a:effectLst/>
              </a:rPr>
              <a:t>Understand the concept of heteroskedasticity and multicollinearity.</a:t>
            </a:r>
          </a:p>
          <a:p>
            <a:pPr>
              <a:buFont typeface="Arial" panose="020B0604020202020204" pitchFamily="34" charset="0"/>
              <a:buChar char="•"/>
            </a:pPr>
            <a:r>
              <a:rPr lang="en-GB" dirty="0">
                <a:effectLst/>
              </a:rPr>
              <a:t>Know how to use the HeteroskedasticityV3 macro and interpret its outputs to detect heteroskedasticity.</a:t>
            </a:r>
          </a:p>
          <a:p>
            <a:pPr marL="0" indent="0">
              <a:buNone/>
            </a:pPr>
            <a:endParaRPr lang="en-GB" dirty="0"/>
          </a:p>
        </p:txBody>
      </p:sp>
      <p:sp>
        <p:nvSpPr>
          <p:cNvPr id="5" name="TextBox 4">
            <a:extLst>
              <a:ext uri="{FF2B5EF4-FFF2-40B4-BE49-F238E27FC236}">
                <a16:creationId xmlns:a16="http://schemas.microsoft.com/office/drawing/2014/main" id="{8F96773F-84EB-B8AD-940E-525CD661B090}"/>
              </a:ext>
            </a:extLst>
          </p:cNvPr>
          <p:cNvSpPr txBox="1"/>
          <p:nvPr/>
        </p:nvSpPr>
        <p:spPr>
          <a:xfrm>
            <a:off x="838200" y="4422637"/>
            <a:ext cx="10394092" cy="1200329"/>
          </a:xfrm>
          <a:prstGeom prst="rect">
            <a:avLst/>
          </a:prstGeom>
          <a:noFill/>
        </p:spPr>
        <p:txBody>
          <a:bodyPr wrap="square">
            <a:spAutoFit/>
          </a:bodyPr>
          <a:lstStyle/>
          <a:p>
            <a:r>
              <a:rPr lang="en-GB" b="0" i="0" u="none" strike="noStrike" dirty="0">
                <a:solidFill>
                  <a:srgbClr val="000000"/>
                </a:solidFill>
                <a:effectLst/>
                <a:latin typeface="Source Sans Pro" panose="020B0503030403020204" pitchFamily="34" charset="0"/>
              </a:rPr>
              <a:t>Regression diagnostics are set of activities or procedures to evaluate whether a regression model satisfied regression assumptions. This chapter focuses on two assumptions that can be violated when working with data collected at a fixed point in time (i.e., cross-sectional data), namely, constant residuals (homoskedasticity) and no multicollinearity</a:t>
            </a:r>
            <a:endParaRPr lang="en-GB" dirty="0"/>
          </a:p>
        </p:txBody>
      </p:sp>
    </p:spTree>
    <p:extLst>
      <p:ext uri="{BB962C8B-B14F-4D97-AF65-F5344CB8AC3E}">
        <p14:creationId xmlns:p14="http://schemas.microsoft.com/office/powerpoint/2010/main" val="3777251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A1B27C-A711-F67D-2130-D7414B426F93}"/>
              </a:ext>
            </a:extLst>
          </p:cNvPr>
          <p:cNvSpPr txBox="1"/>
          <p:nvPr/>
        </p:nvSpPr>
        <p:spPr>
          <a:xfrm>
            <a:off x="1349828" y="2135303"/>
            <a:ext cx="7935686" cy="461665"/>
          </a:xfrm>
          <a:prstGeom prst="rect">
            <a:avLst/>
          </a:prstGeom>
          <a:noFill/>
        </p:spPr>
        <p:txBody>
          <a:bodyPr wrap="square">
            <a:spAutoFit/>
          </a:bodyPr>
          <a:lstStyle/>
          <a:p>
            <a:r>
              <a:rPr lang="en-GB" sz="2400" b="0" i="0" dirty="0">
                <a:solidFill>
                  <a:schemeClr val="tx1"/>
                </a:solidFill>
                <a:effectLst/>
                <a:latin typeface="+mn-lt"/>
              </a:rPr>
              <a:t> </a:t>
            </a:r>
            <a:r>
              <a:rPr lang="en-GB" sz="2400" b="0" i="0" u="none" strike="noStrike" dirty="0">
                <a:solidFill>
                  <a:schemeClr val="tx1"/>
                </a:solidFill>
                <a:effectLst/>
                <a:latin typeface="+mn-lt"/>
                <a:hlinkClick r:id="rId2"/>
              </a:rPr>
              <a:t>https://www.youtube.com/watch?v=dJFAkPLrbx4&amp;t=28s</a:t>
            </a:r>
            <a:endParaRPr lang="en-GB" sz="2400" dirty="0"/>
          </a:p>
        </p:txBody>
      </p:sp>
      <p:sp>
        <p:nvSpPr>
          <p:cNvPr id="6" name="Title 5">
            <a:extLst>
              <a:ext uri="{FF2B5EF4-FFF2-40B4-BE49-F238E27FC236}">
                <a16:creationId xmlns:a16="http://schemas.microsoft.com/office/drawing/2014/main" id="{D22154FD-FA5D-4BBD-6AE3-7376B581DFBA}"/>
              </a:ext>
            </a:extLst>
          </p:cNvPr>
          <p:cNvSpPr>
            <a:spLocks noGrp="1"/>
          </p:cNvSpPr>
          <p:nvPr>
            <p:ph type="title"/>
          </p:nvPr>
        </p:nvSpPr>
        <p:spPr/>
        <p:txBody>
          <a:bodyPr/>
          <a:lstStyle/>
          <a:p>
            <a:r>
              <a:rPr lang="en-GB" dirty="0"/>
              <a:t>On YouTube</a:t>
            </a:r>
          </a:p>
        </p:txBody>
      </p:sp>
    </p:spTree>
    <p:extLst>
      <p:ext uri="{BB962C8B-B14F-4D97-AF65-F5344CB8AC3E}">
        <p14:creationId xmlns:p14="http://schemas.microsoft.com/office/powerpoint/2010/main" val="2589443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745A-AF39-5251-1830-F315B755CA04}"/>
              </a:ext>
            </a:extLst>
          </p:cNvPr>
          <p:cNvSpPr>
            <a:spLocks noGrp="1"/>
          </p:cNvSpPr>
          <p:nvPr>
            <p:ph type="title"/>
          </p:nvPr>
        </p:nvSpPr>
        <p:spPr/>
        <p:txBody>
          <a:bodyPr/>
          <a:lstStyle/>
          <a:p>
            <a:r>
              <a:rPr lang="en-GB" dirty="0">
                <a:solidFill>
                  <a:srgbClr val="FF0000"/>
                </a:solidFill>
              </a:rPr>
              <a:t>Homoskedasticity and Heteroskedasticity</a:t>
            </a:r>
          </a:p>
        </p:txBody>
      </p:sp>
      <p:sp>
        <p:nvSpPr>
          <p:cNvPr id="3" name="Content Placeholder 2">
            <a:extLst>
              <a:ext uri="{FF2B5EF4-FFF2-40B4-BE49-F238E27FC236}">
                <a16:creationId xmlns:a16="http://schemas.microsoft.com/office/drawing/2014/main" id="{7DEA0A16-3264-D625-CB56-0AD88B5F8DA3}"/>
              </a:ext>
            </a:extLst>
          </p:cNvPr>
          <p:cNvSpPr>
            <a:spLocks noGrp="1"/>
          </p:cNvSpPr>
          <p:nvPr>
            <p:ph idx="1"/>
          </p:nvPr>
        </p:nvSpPr>
        <p:spPr/>
        <p:txBody>
          <a:bodyPr/>
          <a:lstStyle/>
          <a:p>
            <a:r>
              <a:rPr lang="en-GB" dirty="0"/>
              <a:t>Homoskedasticity = </a:t>
            </a:r>
            <a:r>
              <a:rPr lang="en-GB" b="0" i="0" u="none" strike="noStrike" dirty="0">
                <a:solidFill>
                  <a:srgbClr val="000000"/>
                </a:solidFill>
                <a:effectLst/>
                <a:latin typeface="Source Sans Pro" panose="020B0503030403020204" pitchFamily="34" charset="0"/>
              </a:rPr>
              <a:t>regression residuals should have the same spreads across any values of independent variables.</a:t>
            </a:r>
          </a:p>
          <a:p>
            <a:r>
              <a:rPr lang="en-GB" dirty="0">
                <a:solidFill>
                  <a:srgbClr val="000000"/>
                </a:solidFill>
                <a:latin typeface="Source Sans Pro" panose="020B0503030403020204" pitchFamily="34" charset="0"/>
              </a:rPr>
              <a:t>Heteroskedasticity = non-constant spread.</a:t>
            </a:r>
            <a:endParaRPr lang="en-GB" dirty="0"/>
          </a:p>
        </p:txBody>
      </p:sp>
      <p:pic>
        <p:nvPicPr>
          <p:cNvPr id="2050" name="Picture 2">
            <a:extLst>
              <a:ext uri="{FF2B5EF4-FFF2-40B4-BE49-F238E27FC236}">
                <a16:creationId xmlns:a16="http://schemas.microsoft.com/office/drawing/2014/main" id="{48469CF6-9A42-593E-5226-087C42522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221" y="3429000"/>
            <a:ext cx="5506387" cy="30951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6D10EF0-DFE4-8E72-2FE1-8F825EBB5CDB}"/>
              </a:ext>
            </a:extLst>
          </p:cNvPr>
          <p:cNvSpPr txBox="1"/>
          <p:nvPr/>
        </p:nvSpPr>
        <p:spPr>
          <a:xfrm>
            <a:off x="6481930" y="4644106"/>
            <a:ext cx="6093500" cy="923330"/>
          </a:xfrm>
          <a:prstGeom prst="rect">
            <a:avLst/>
          </a:prstGeom>
          <a:noFill/>
        </p:spPr>
        <p:txBody>
          <a:bodyPr wrap="square">
            <a:spAutoFit/>
          </a:bodyPr>
          <a:lstStyle/>
          <a:p>
            <a:r>
              <a:rPr lang="en-GB" b="0" i="0" u="none" strike="noStrike" dirty="0">
                <a:solidFill>
                  <a:srgbClr val="404040"/>
                </a:solidFill>
                <a:effectLst/>
                <a:latin typeface="Source Sans Pro" panose="020B0503030403020204" pitchFamily="34" charset="0"/>
              </a:rPr>
              <a:t>Heteroskedasticity exists. Satisfaction scores of loyal customers are more spread out than that of non-loyal customers</a:t>
            </a:r>
            <a:endParaRPr lang="en-GB" dirty="0"/>
          </a:p>
        </p:txBody>
      </p:sp>
    </p:spTree>
    <p:extLst>
      <p:ext uri="{BB962C8B-B14F-4D97-AF65-F5344CB8AC3E}">
        <p14:creationId xmlns:p14="http://schemas.microsoft.com/office/powerpoint/2010/main" val="1442782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F41F6-3EF6-0219-7965-23E0811E23FD}"/>
              </a:ext>
            </a:extLst>
          </p:cNvPr>
          <p:cNvSpPr>
            <a:spLocks noGrp="1"/>
          </p:cNvSpPr>
          <p:nvPr>
            <p:ph type="title"/>
          </p:nvPr>
        </p:nvSpPr>
        <p:spPr/>
        <p:txBody>
          <a:bodyPr/>
          <a:lstStyle/>
          <a:p>
            <a:r>
              <a:rPr lang="en-GB" dirty="0">
                <a:solidFill>
                  <a:srgbClr val="FF0000"/>
                </a:solidFill>
              </a:rPr>
              <a:t>Consequences of Heteroskedasticity</a:t>
            </a:r>
          </a:p>
        </p:txBody>
      </p:sp>
      <p:sp>
        <p:nvSpPr>
          <p:cNvPr id="3" name="Content Placeholder 2">
            <a:extLst>
              <a:ext uri="{FF2B5EF4-FFF2-40B4-BE49-F238E27FC236}">
                <a16:creationId xmlns:a16="http://schemas.microsoft.com/office/drawing/2014/main" id="{831D802F-4E75-00E3-E27F-1A0F08419ABF}"/>
              </a:ext>
            </a:extLst>
          </p:cNvPr>
          <p:cNvSpPr>
            <a:spLocks noGrp="1"/>
          </p:cNvSpPr>
          <p:nvPr>
            <p:ph idx="1"/>
          </p:nvPr>
        </p:nvSpPr>
        <p:spPr/>
        <p:txBody>
          <a:bodyPr/>
          <a:lstStyle/>
          <a:p>
            <a:r>
              <a:rPr lang="en-GB" b="0" i="0" u="none" strike="noStrike" dirty="0">
                <a:solidFill>
                  <a:srgbClr val="000000"/>
                </a:solidFill>
                <a:effectLst/>
                <a:latin typeface="Source Sans Pro" panose="020B0503030403020204" pitchFamily="34" charset="0"/>
              </a:rPr>
              <a:t>If regression errors are heteroskedastic and we run a regression as usual in SPSS, the standard errors reported by SPSS are wrong. As a consequence, the t-value, p-value, and confidence intervals for b0 and b1 are wrong. If they are all wrong, our research conclusion are wrong. For example, non-significant relationship in a population can be significant in a sample when heteroskedasticity is present.</a:t>
            </a:r>
            <a:endParaRPr lang="en-GB" dirty="0"/>
          </a:p>
        </p:txBody>
      </p:sp>
    </p:spTree>
    <p:extLst>
      <p:ext uri="{BB962C8B-B14F-4D97-AF65-F5344CB8AC3E}">
        <p14:creationId xmlns:p14="http://schemas.microsoft.com/office/powerpoint/2010/main" val="1059826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9933E-7699-6930-A520-19035AA602A7}"/>
              </a:ext>
            </a:extLst>
          </p:cNvPr>
          <p:cNvSpPr>
            <a:spLocks noGrp="1"/>
          </p:cNvSpPr>
          <p:nvPr>
            <p:ph type="title"/>
          </p:nvPr>
        </p:nvSpPr>
        <p:spPr/>
        <p:txBody>
          <a:bodyPr/>
          <a:lstStyle/>
          <a:p>
            <a:r>
              <a:rPr lang="en-GB" dirty="0">
                <a:solidFill>
                  <a:srgbClr val="FF0000"/>
                </a:solidFill>
              </a:rPr>
              <a:t>How to Detect Heteroskedasticity?</a:t>
            </a:r>
          </a:p>
        </p:txBody>
      </p:sp>
      <p:sp>
        <p:nvSpPr>
          <p:cNvPr id="3" name="Content Placeholder 2">
            <a:extLst>
              <a:ext uri="{FF2B5EF4-FFF2-40B4-BE49-F238E27FC236}">
                <a16:creationId xmlns:a16="http://schemas.microsoft.com/office/drawing/2014/main" id="{EDCA1A37-0DEF-4AC5-35C8-6308B81FD716}"/>
              </a:ext>
            </a:extLst>
          </p:cNvPr>
          <p:cNvSpPr>
            <a:spLocks noGrp="1"/>
          </p:cNvSpPr>
          <p:nvPr>
            <p:ph idx="1"/>
          </p:nvPr>
        </p:nvSpPr>
        <p:spPr/>
        <p:txBody>
          <a:bodyPr/>
          <a:lstStyle/>
          <a:p>
            <a:r>
              <a:rPr lang="en-GB" dirty="0">
                <a:solidFill>
                  <a:srgbClr val="000000"/>
                </a:solidFill>
                <a:latin typeface="Source Sans Pro" panose="020B0503030403020204" pitchFamily="34" charset="0"/>
              </a:rPr>
              <a:t>I</a:t>
            </a:r>
            <a:r>
              <a:rPr lang="en-GB" b="0" i="0" u="none" strike="noStrike" dirty="0">
                <a:solidFill>
                  <a:srgbClr val="000000"/>
                </a:solidFill>
                <a:effectLst/>
                <a:latin typeface="Source Sans Pro" panose="020B0503030403020204" pitchFamily="34" charset="0"/>
              </a:rPr>
              <a:t>nspecting the plot of residuals against the independent variable or against the predicted values of the dependent variable. </a:t>
            </a:r>
          </a:p>
          <a:p>
            <a:r>
              <a:rPr lang="en-GB" b="0" i="0" u="none" strike="noStrike" dirty="0">
                <a:solidFill>
                  <a:srgbClr val="000000"/>
                </a:solidFill>
                <a:effectLst/>
                <a:latin typeface="Source Sans Pro" panose="020B0503030403020204" pitchFamily="34" charset="0"/>
              </a:rPr>
              <a:t>By conducting statistical tests, among which are the popular Breusch-Pagan and </a:t>
            </a:r>
            <a:r>
              <a:rPr lang="en-GB" b="0" i="0" u="none" strike="noStrike" dirty="0" err="1">
                <a:solidFill>
                  <a:srgbClr val="000000"/>
                </a:solidFill>
                <a:effectLst/>
                <a:latin typeface="Source Sans Pro" panose="020B0503030403020204" pitchFamily="34" charset="0"/>
              </a:rPr>
              <a:t>Koenker</a:t>
            </a:r>
            <a:r>
              <a:rPr lang="en-GB" b="0" i="0" u="none" strike="noStrike" dirty="0">
                <a:solidFill>
                  <a:srgbClr val="000000"/>
                </a:solidFill>
                <a:effectLst/>
                <a:latin typeface="Source Sans Pro" panose="020B0503030403020204" pitchFamily="34" charset="0"/>
              </a:rPr>
              <a:t> test.</a:t>
            </a:r>
          </a:p>
          <a:p>
            <a:pPr lvl="1"/>
            <a:r>
              <a:rPr lang="en-GB" b="0" i="0" u="none" strike="noStrike" dirty="0">
                <a:solidFill>
                  <a:srgbClr val="000000"/>
                </a:solidFill>
                <a:effectLst/>
                <a:latin typeface="Source Sans Pro" panose="020B0503030403020204" pitchFamily="34" charset="0"/>
              </a:rPr>
              <a:t>The null hypothesis of the tests is that error terms are </a:t>
            </a:r>
            <a:r>
              <a:rPr lang="en-GB" b="0" i="0" u="none" strike="noStrike" dirty="0" err="1">
                <a:solidFill>
                  <a:srgbClr val="000000"/>
                </a:solidFill>
                <a:effectLst/>
                <a:latin typeface="Source Sans Pro" panose="020B0503030403020204" pitchFamily="34" charset="0"/>
              </a:rPr>
              <a:t>homoskedastic</a:t>
            </a:r>
            <a:r>
              <a:rPr lang="en-GB" b="0" i="0" u="none" strike="noStrike" dirty="0">
                <a:solidFill>
                  <a:srgbClr val="000000"/>
                </a:solidFill>
                <a:effectLst/>
                <a:latin typeface="Source Sans Pro" panose="020B0503030403020204" pitchFamily="34" charset="0"/>
              </a:rPr>
              <a:t>.  </a:t>
            </a:r>
          </a:p>
          <a:p>
            <a:pPr lvl="1"/>
            <a:r>
              <a:rPr lang="en-GB" b="0" i="0" u="none" strike="noStrike" dirty="0">
                <a:solidFill>
                  <a:srgbClr val="000000"/>
                </a:solidFill>
                <a:effectLst/>
                <a:latin typeface="Source Sans Pro" panose="020B0503030403020204" pitchFamily="34" charset="0"/>
              </a:rPr>
              <a:t>Because we want to satisfy the homoskedasticity assumption, we want to have a large p-value. This means we do not want to reject the null hypothesis.</a:t>
            </a:r>
          </a:p>
          <a:p>
            <a:pPr lvl="1"/>
            <a:r>
              <a:rPr lang="en-GB" b="0" i="0" u="none" strike="noStrike" dirty="0">
                <a:solidFill>
                  <a:srgbClr val="000000"/>
                </a:solidFill>
                <a:effectLst/>
                <a:latin typeface="Source Sans Pro" panose="020B0503030403020204" pitchFamily="34" charset="0"/>
              </a:rPr>
              <a:t>If the null hypothesis is not rejected, we can conduct a regression analysis as usual without having to adjust the standard errors of the regression coefficients. </a:t>
            </a:r>
            <a:endParaRPr lang="en-GB" dirty="0"/>
          </a:p>
        </p:txBody>
      </p:sp>
    </p:spTree>
    <p:extLst>
      <p:ext uri="{BB962C8B-B14F-4D97-AF65-F5344CB8AC3E}">
        <p14:creationId xmlns:p14="http://schemas.microsoft.com/office/powerpoint/2010/main" val="4223772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2C1DA-41AB-9A7B-571E-8ACCDBCC05A0}"/>
              </a:ext>
            </a:extLst>
          </p:cNvPr>
          <p:cNvSpPr>
            <a:spLocks noGrp="1"/>
          </p:cNvSpPr>
          <p:nvPr>
            <p:ph type="title"/>
          </p:nvPr>
        </p:nvSpPr>
        <p:spPr/>
        <p:txBody>
          <a:bodyPr>
            <a:normAutofit/>
          </a:bodyPr>
          <a:lstStyle/>
          <a:p>
            <a:r>
              <a:rPr lang="en-GB" dirty="0" err="1">
                <a:solidFill>
                  <a:srgbClr val="FF0000"/>
                </a:solidFill>
              </a:rPr>
              <a:t>Homoskedastic</a:t>
            </a:r>
            <a:r>
              <a:rPr lang="en-GB" dirty="0">
                <a:solidFill>
                  <a:srgbClr val="FF0000"/>
                </a:solidFill>
              </a:rPr>
              <a:t> or heteroskedastic residuals?</a:t>
            </a:r>
          </a:p>
        </p:txBody>
      </p:sp>
      <p:sp>
        <p:nvSpPr>
          <p:cNvPr id="4" name="Content Placeholder 3">
            <a:extLst>
              <a:ext uri="{FF2B5EF4-FFF2-40B4-BE49-F238E27FC236}">
                <a16:creationId xmlns:a16="http://schemas.microsoft.com/office/drawing/2014/main" id="{EE5DFFF3-3A7B-278E-A67A-33447F48462E}"/>
              </a:ext>
            </a:extLst>
          </p:cNvPr>
          <p:cNvSpPr txBox="1">
            <a:spLocks noGrp="1"/>
          </p:cNvSpPr>
          <p:nvPr>
            <p:ph idx="1"/>
          </p:nvPr>
        </p:nvSpPr>
        <p:spPr>
          <a:xfrm>
            <a:off x="838200" y="1825625"/>
            <a:ext cx="10515600" cy="1255728"/>
          </a:xfrm>
          <a:prstGeom prst="rect">
            <a:avLst/>
          </a:prstGeom>
          <a:noFill/>
        </p:spPr>
        <p:txBody>
          <a:bodyPr wrap="square">
            <a:spAutoFit/>
          </a:bodyPr>
          <a:lstStyle/>
          <a:p>
            <a:pPr algn="l"/>
            <a:r>
              <a:rPr lang="en-GB" b="0" i="0" u="none" strike="noStrike" dirty="0">
                <a:solidFill>
                  <a:srgbClr val="000000"/>
                </a:solidFill>
                <a:effectLst/>
                <a:latin typeface="Source Sans Pro" panose="020B0503030403020204" pitchFamily="34" charset="0"/>
              </a:rPr>
              <a:t>In practice, it is more common to have heteroskedastic than </a:t>
            </a:r>
            <a:r>
              <a:rPr lang="en-GB" b="0" i="0" u="none" strike="noStrike" dirty="0" err="1">
                <a:solidFill>
                  <a:srgbClr val="000000"/>
                </a:solidFill>
                <a:effectLst/>
                <a:latin typeface="Source Sans Pro" panose="020B0503030403020204" pitchFamily="34" charset="0"/>
              </a:rPr>
              <a:t>homoskedastic</a:t>
            </a:r>
            <a:r>
              <a:rPr lang="en-GB" b="0" i="0" u="none" strike="noStrike" dirty="0">
                <a:solidFill>
                  <a:srgbClr val="000000"/>
                </a:solidFill>
                <a:effectLst/>
                <a:latin typeface="Source Sans Pro" panose="020B0503030403020204" pitchFamily="34" charset="0"/>
              </a:rPr>
              <a:t> residuals. Modern views regards </a:t>
            </a:r>
            <a:r>
              <a:rPr lang="en-GB" b="0" i="0" u="none" strike="noStrike" dirty="0" err="1">
                <a:solidFill>
                  <a:srgbClr val="000000"/>
                </a:solidFill>
                <a:effectLst/>
                <a:latin typeface="Source Sans Pro" panose="020B0503030403020204" pitchFamily="34" charset="0"/>
              </a:rPr>
              <a:t>homoskedastic</a:t>
            </a:r>
            <a:r>
              <a:rPr lang="en-GB" b="0" i="0" u="none" strike="noStrike" dirty="0">
                <a:solidFill>
                  <a:srgbClr val="000000"/>
                </a:solidFill>
                <a:effectLst/>
                <a:latin typeface="Source Sans Pro" panose="020B0503030403020204" pitchFamily="34" charset="0"/>
              </a:rPr>
              <a:t> residuals as an exception (</a:t>
            </a:r>
            <a:r>
              <a:rPr lang="en-GB" b="0" i="0" u="none" strike="noStrike" dirty="0">
                <a:solidFill>
                  <a:srgbClr val="75AADB"/>
                </a:solidFill>
                <a:effectLst/>
                <a:latin typeface="Source Sans Pro" panose="020B0503030403020204" pitchFamily="34" charset="0"/>
                <a:hlinkClick r:id="rId2"/>
              </a:rPr>
              <a:t>Stock &amp; Watson, 2015</a:t>
            </a:r>
            <a:r>
              <a:rPr lang="en-GB" b="0" i="0" u="none" strike="noStrike" dirty="0">
                <a:solidFill>
                  <a:srgbClr val="000000"/>
                </a:solidFill>
                <a:effectLst/>
                <a:latin typeface="Source Sans Pro" panose="020B0503030403020204" pitchFamily="34" charset="0"/>
              </a:rPr>
              <a:t>).</a:t>
            </a:r>
          </a:p>
        </p:txBody>
      </p:sp>
    </p:spTree>
    <p:extLst>
      <p:ext uri="{BB962C8B-B14F-4D97-AF65-F5344CB8AC3E}">
        <p14:creationId xmlns:p14="http://schemas.microsoft.com/office/powerpoint/2010/main" val="2779034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30CFC-0845-E427-A1EE-F0B4DD8313B3}"/>
              </a:ext>
            </a:extLst>
          </p:cNvPr>
          <p:cNvSpPr>
            <a:spLocks noGrp="1"/>
          </p:cNvSpPr>
          <p:nvPr>
            <p:ph type="title"/>
          </p:nvPr>
        </p:nvSpPr>
        <p:spPr/>
        <p:txBody>
          <a:bodyPr/>
          <a:lstStyle/>
          <a:p>
            <a:r>
              <a:rPr lang="en-GB" dirty="0">
                <a:solidFill>
                  <a:srgbClr val="FF0000"/>
                </a:solidFill>
              </a:rPr>
              <a:t>Remedy</a:t>
            </a:r>
          </a:p>
        </p:txBody>
      </p:sp>
      <p:sp>
        <p:nvSpPr>
          <p:cNvPr id="3" name="Content Placeholder 2">
            <a:extLst>
              <a:ext uri="{FF2B5EF4-FFF2-40B4-BE49-F238E27FC236}">
                <a16:creationId xmlns:a16="http://schemas.microsoft.com/office/drawing/2014/main" id="{5D1F59C8-1805-F43F-C98E-0262E31F3611}"/>
              </a:ext>
            </a:extLst>
          </p:cNvPr>
          <p:cNvSpPr>
            <a:spLocks noGrp="1"/>
          </p:cNvSpPr>
          <p:nvPr>
            <p:ph idx="1"/>
          </p:nvPr>
        </p:nvSpPr>
        <p:spPr/>
        <p:txBody>
          <a:bodyPr/>
          <a:lstStyle/>
          <a:p>
            <a:r>
              <a:rPr lang="en-GB" b="0" i="0" u="none" strike="noStrike" dirty="0">
                <a:solidFill>
                  <a:srgbClr val="000000"/>
                </a:solidFill>
                <a:effectLst/>
                <a:latin typeface="Source Sans Pro" panose="020B0503030403020204" pitchFamily="34" charset="0"/>
              </a:rPr>
              <a:t>Adjust the standard errors of the regression coefficients using the heteroskedasticity-adjusted standard errors (</a:t>
            </a:r>
            <a:r>
              <a:rPr lang="en-GB" b="0" i="0" u="none" strike="noStrike" dirty="0">
                <a:solidFill>
                  <a:srgbClr val="75AADB"/>
                </a:solidFill>
                <a:effectLst/>
                <a:latin typeface="Source Sans Pro" panose="020B0503030403020204" pitchFamily="34" charset="0"/>
                <a:hlinkClick r:id="rId2"/>
              </a:rPr>
              <a:t>Stock &amp; Watson, 2015</a:t>
            </a:r>
            <a:r>
              <a:rPr lang="en-GB" b="0" i="0" u="none" strike="noStrike" dirty="0">
                <a:solidFill>
                  <a:srgbClr val="000000"/>
                </a:solidFill>
                <a:effectLst/>
                <a:latin typeface="Source Sans Pro" panose="020B0503030403020204" pitchFamily="34" charset="0"/>
              </a:rPr>
              <a:t>), or HC standard error, for short.</a:t>
            </a:r>
          </a:p>
          <a:p>
            <a:r>
              <a:rPr lang="en-GB" b="0" i="0" u="none" strike="noStrike" dirty="0">
                <a:solidFill>
                  <a:srgbClr val="000000"/>
                </a:solidFill>
                <a:effectLst/>
                <a:latin typeface="Source Sans Pro" panose="020B0503030403020204" pitchFamily="34" charset="0"/>
              </a:rPr>
              <a:t>There are several types of these HC standard errors, namely HC0 (or </a:t>
            </a:r>
            <a:r>
              <a:rPr lang="en-GB" b="0" i="0" u="none" strike="noStrike" dirty="0" err="1">
                <a:solidFill>
                  <a:srgbClr val="000000"/>
                </a:solidFill>
                <a:effectLst/>
                <a:latin typeface="Source Sans Pro" panose="020B0503030403020204" pitchFamily="34" charset="0"/>
              </a:rPr>
              <a:t>Eicker</a:t>
            </a:r>
            <a:r>
              <a:rPr lang="en-GB" b="0" i="0" u="none" strike="noStrike" dirty="0">
                <a:solidFill>
                  <a:srgbClr val="000000"/>
                </a:solidFill>
                <a:effectLst/>
                <a:latin typeface="Source Sans Pro" panose="020B0503030403020204" pitchFamily="34" charset="0"/>
              </a:rPr>
              <a:t>-Huber-White standard errors), HC1, HC2, HC3, and HC4. When we open the </a:t>
            </a:r>
            <a:r>
              <a:rPr lang="en-GB" dirty="0"/>
              <a:t>HeteroskedasticityV3</a:t>
            </a:r>
            <a:r>
              <a:rPr lang="en-GB" b="0" i="0" u="none" strike="noStrike" dirty="0">
                <a:solidFill>
                  <a:srgbClr val="000000"/>
                </a:solidFill>
                <a:effectLst/>
                <a:latin typeface="Source Sans Pro" panose="020B0503030403020204" pitchFamily="34" charset="0"/>
              </a:rPr>
              <a:t> macro, we can select one of these HC standard errors</a:t>
            </a:r>
          </a:p>
          <a:p>
            <a:r>
              <a:rPr lang="en-GB" b="0" i="0" u="none" strike="noStrike" dirty="0">
                <a:solidFill>
                  <a:srgbClr val="000000"/>
                </a:solidFill>
                <a:effectLst/>
                <a:latin typeface="Source Sans Pro" panose="020B0503030403020204" pitchFamily="34" charset="0"/>
              </a:rPr>
              <a:t>HC4 is widely recommended, which is the latest version of the types (</a:t>
            </a:r>
            <a:r>
              <a:rPr lang="en-GB" b="0" i="0" u="none" strike="noStrike" dirty="0">
                <a:solidFill>
                  <a:srgbClr val="75AADB"/>
                </a:solidFill>
                <a:effectLst/>
                <a:latin typeface="Source Sans Pro" panose="020B0503030403020204" pitchFamily="34" charset="0"/>
                <a:hlinkClick r:id="rId3"/>
              </a:rPr>
              <a:t>Daryanto, 2020</a:t>
            </a:r>
            <a:r>
              <a:rPr lang="en-GB" b="0" i="0" u="none" strike="noStrike" dirty="0">
                <a:solidFill>
                  <a:srgbClr val="000000"/>
                </a:solidFill>
                <a:effectLst/>
                <a:latin typeface="Source Sans Pro" panose="020B0503030403020204" pitchFamily="34" charset="0"/>
              </a:rPr>
              <a:t>). My recommendation is that we report your regression results with and without adjusted standard errors.</a:t>
            </a:r>
            <a:endParaRPr lang="en-GB" dirty="0"/>
          </a:p>
        </p:txBody>
      </p:sp>
    </p:spTree>
    <p:extLst>
      <p:ext uri="{BB962C8B-B14F-4D97-AF65-F5344CB8AC3E}">
        <p14:creationId xmlns:p14="http://schemas.microsoft.com/office/powerpoint/2010/main" val="2606898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627DF-384E-E2A4-40A4-0E8AE180A580}"/>
              </a:ext>
            </a:extLst>
          </p:cNvPr>
          <p:cNvSpPr>
            <a:spLocks noGrp="1"/>
          </p:cNvSpPr>
          <p:nvPr>
            <p:ph type="title"/>
          </p:nvPr>
        </p:nvSpPr>
        <p:spPr/>
        <p:txBody>
          <a:bodyPr/>
          <a:lstStyle/>
          <a:p>
            <a:r>
              <a:rPr lang="en-GB" dirty="0">
                <a:solidFill>
                  <a:srgbClr val="FF0000"/>
                </a:solidFill>
              </a:rPr>
              <a:t>SPSS Action: HeteroskedasticityV3 Macro</a:t>
            </a:r>
          </a:p>
        </p:txBody>
      </p:sp>
      <p:sp>
        <p:nvSpPr>
          <p:cNvPr id="3" name="Content Placeholder 2">
            <a:extLst>
              <a:ext uri="{FF2B5EF4-FFF2-40B4-BE49-F238E27FC236}">
                <a16:creationId xmlns:a16="http://schemas.microsoft.com/office/drawing/2014/main" id="{12D51D27-2F1D-1E93-9287-3042619A8F9C}"/>
              </a:ext>
            </a:extLst>
          </p:cNvPr>
          <p:cNvSpPr>
            <a:spLocks noGrp="1"/>
          </p:cNvSpPr>
          <p:nvPr>
            <p:ph idx="1"/>
          </p:nvPr>
        </p:nvSpPr>
        <p:spPr/>
        <p:txBody>
          <a:bodyPr/>
          <a:lstStyle/>
          <a:p>
            <a:r>
              <a:rPr lang="en-GB" b="0" i="0" u="none" strike="noStrike" dirty="0">
                <a:solidFill>
                  <a:srgbClr val="000000"/>
                </a:solidFill>
                <a:effectLst/>
                <a:latin typeface="Source Sans Pro" panose="020B0503030403020204" pitchFamily="34" charset="0"/>
              </a:rPr>
              <a:t>Download the HeteroskedasticityV3 macro from this website </a:t>
            </a:r>
            <a:r>
              <a:rPr lang="en-GB" b="0" i="0" u="sng" dirty="0">
                <a:solidFill>
                  <a:srgbClr val="75AADB"/>
                </a:solidFill>
                <a:effectLst/>
                <a:latin typeface="Source Sans Pro" panose="020B0503030403020204" pitchFamily="34" charset="0"/>
                <a:hlinkClick r:id="rId2"/>
              </a:rPr>
              <a:t>https://www.tqmp.org/Vignettes/vol16-5/v008/index.html</a:t>
            </a:r>
            <a:r>
              <a:rPr lang="en-GB" b="0" i="0" u="none" strike="noStrike" dirty="0">
                <a:solidFill>
                  <a:srgbClr val="000000"/>
                </a:solidFill>
                <a:effectLst/>
                <a:latin typeface="Source Sans Pro" panose="020B0503030403020204" pitchFamily="34" charset="0"/>
              </a:rPr>
              <a:t>. To download the file, on the website, click </a:t>
            </a:r>
            <a:r>
              <a:rPr lang="en-GB" dirty="0"/>
              <a:t>Appendix</a:t>
            </a:r>
            <a:r>
              <a:rPr lang="en-GB" b="0" i="0" u="none" strike="noStrike" dirty="0">
                <a:solidFill>
                  <a:srgbClr val="000000"/>
                </a:solidFill>
                <a:effectLst/>
                <a:latin typeface="Source Sans Pro" panose="020B0503030403020204" pitchFamily="34" charset="0"/>
              </a:rPr>
              <a:t>. A folder containing the macro will be downloaded automatically. Please check your download folder in your computer.</a:t>
            </a:r>
            <a:endParaRPr lang="en-GB" dirty="0"/>
          </a:p>
        </p:txBody>
      </p:sp>
    </p:spTree>
    <p:extLst>
      <p:ext uri="{BB962C8B-B14F-4D97-AF65-F5344CB8AC3E}">
        <p14:creationId xmlns:p14="http://schemas.microsoft.com/office/powerpoint/2010/main" val="2057550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18B47D-C228-F6AD-3CA1-6F53DECCC978}"/>
              </a:ext>
            </a:extLst>
          </p:cNvPr>
          <p:cNvSpPr>
            <a:spLocks noGrp="1"/>
          </p:cNvSpPr>
          <p:nvPr>
            <p:ph idx="4294967295"/>
          </p:nvPr>
        </p:nvSpPr>
        <p:spPr>
          <a:xfrm>
            <a:off x="924698" y="868500"/>
            <a:ext cx="10515600" cy="690477"/>
          </a:xfrm>
        </p:spPr>
        <p:txBody>
          <a:bodyPr/>
          <a:lstStyle/>
          <a:p>
            <a:r>
              <a:rPr lang="en-GB" b="0" i="0" u="none" strike="noStrike" dirty="0">
                <a:solidFill>
                  <a:srgbClr val="000000"/>
                </a:solidFill>
                <a:effectLst/>
                <a:latin typeface="Source Sans Pro" panose="020B0503030403020204" pitchFamily="34" charset="0"/>
              </a:rPr>
              <a:t>For an illustration, let estimate this model again.</a:t>
            </a:r>
          </a:p>
          <a:p>
            <a:endParaRPr lang="en-GB" dirty="0"/>
          </a:p>
        </p:txBody>
      </p:sp>
      <p:pic>
        <p:nvPicPr>
          <p:cNvPr id="4" name="Picture 3">
            <a:extLst>
              <a:ext uri="{FF2B5EF4-FFF2-40B4-BE49-F238E27FC236}">
                <a16:creationId xmlns:a16="http://schemas.microsoft.com/office/drawing/2014/main" id="{61945F2F-1BF6-C019-8674-E535F61CE70F}"/>
              </a:ext>
            </a:extLst>
          </p:cNvPr>
          <p:cNvPicPr>
            <a:picLocks noChangeAspect="1"/>
          </p:cNvPicPr>
          <p:nvPr/>
        </p:nvPicPr>
        <p:blipFill>
          <a:blip r:embed="rId2"/>
          <a:stretch>
            <a:fillRect/>
          </a:stretch>
        </p:blipFill>
        <p:spPr>
          <a:xfrm>
            <a:off x="2351581" y="1797891"/>
            <a:ext cx="6329373" cy="690477"/>
          </a:xfrm>
          <a:prstGeom prst="rect">
            <a:avLst/>
          </a:prstGeom>
        </p:spPr>
      </p:pic>
      <p:sp>
        <p:nvSpPr>
          <p:cNvPr id="6" name="TextBox 5">
            <a:extLst>
              <a:ext uri="{FF2B5EF4-FFF2-40B4-BE49-F238E27FC236}">
                <a16:creationId xmlns:a16="http://schemas.microsoft.com/office/drawing/2014/main" id="{A46B258C-645E-2FA7-2857-60FC9DD85401}"/>
              </a:ext>
            </a:extLst>
          </p:cNvPr>
          <p:cNvSpPr txBox="1"/>
          <p:nvPr/>
        </p:nvSpPr>
        <p:spPr>
          <a:xfrm>
            <a:off x="924698" y="3120285"/>
            <a:ext cx="8342870" cy="3649589"/>
          </a:xfrm>
          <a:prstGeom prst="rect">
            <a:avLst/>
          </a:prstGeom>
          <a:noFill/>
        </p:spPr>
        <p:txBody>
          <a:bodyPr wrap="square">
            <a:spAutoFit/>
          </a:bodyPr>
          <a:lstStyle/>
          <a:p>
            <a:pPr algn="l"/>
            <a:r>
              <a:rPr lang="en-GB" b="0" i="0" u="none" strike="noStrike" dirty="0">
                <a:solidFill>
                  <a:srgbClr val="000000"/>
                </a:solidFill>
                <a:effectLst/>
                <a:latin typeface="Source Sans Pro" panose="020B0503030403020204" pitchFamily="34" charset="0"/>
              </a:rPr>
              <a:t>Data: </a:t>
            </a:r>
            <a:r>
              <a:rPr lang="en-GB" b="0" i="0" u="none" strike="noStrike" dirty="0" err="1">
                <a:solidFill>
                  <a:srgbClr val="000000"/>
                </a:solidFill>
                <a:effectLst/>
                <a:latin typeface="Source Sans Pro" panose="020B0503030403020204" pitchFamily="34" charset="0"/>
              </a:rPr>
              <a:t>satisfaction.sav</a:t>
            </a:r>
            <a:endParaRPr lang="en-GB" b="0" i="0" u="none" strike="noStrike" dirty="0">
              <a:solidFill>
                <a:srgbClr val="000000"/>
              </a:solidFill>
              <a:effectLst/>
              <a:latin typeface="Source Sans Pro" panose="020B0503030403020204" pitchFamily="34" charset="0"/>
            </a:endParaRPr>
          </a:p>
          <a:p>
            <a:pPr algn="l"/>
            <a:endParaRPr lang="en-GB" dirty="0">
              <a:solidFill>
                <a:srgbClr val="000000"/>
              </a:solidFill>
              <a:latin typeface="Source Sans Pro" panose="020B0503030403020204" pitchFamily="34" charset="0"/>
            </a:endParaRPr>
          </a:p>
          <a:p>
            <a:pPr algn="l"/>
            <a:r>
              <a:rPr lang="en-GB" dirty="0">
                <a:solidFill>
                  <a:srgbClr val="000000"/>
                </a:solidFill>
                <a:latin typeface="Source Sans Pro" panose="020B0503030403020204" pitchFamily="34" charset="0"/>
              </a:rPr>
              <a:t>Steps:</a:t>
            </a:r>
          </a:p>
          <a:p>
            <a:pPr algn="l"/>
            <a:endParaRPr lang="en-GB" b="0" i="0" u="none" strike="noStrike" dirty="0">
              <a:solidFill>
                <a:srgbClr val="000000"/>
              </a:solidFill>
              <a:effectLst/>
              <a:latin typeface="Source Sans Pro" panose="020B0503030403020204" pitchFamily="34" charset="0"/>
            </a:endParaRPr>
          </a:p>
          <a:p>
            <a:pPr algn="l">
              <a:lnSpc>
                <a:spcPct val="150000"/>
              </a:lnSpc>
              <a:buFont typeface="Arial" panose="020B0604020202020204" pitchFamily="34" charset="0"/>
              <a:buChar char="•"/>
            </a:pPr>
            <a:r>
              <a:rPr lang="en-GB" b="0" i="0" u="none" strike="noStrike" dirty="0" err="1">
                <a:solidFill>
                  <a:srgbClr val="000000"/>
                </a:solidFill>
                <a:effectLst/>
                <a:latin typeface="Source Sans Pro" panose="020B0503030403020204" pitchFamily="34" charset="0"/>
              </a:rPr>
              <a:t>Analyze</a:t>
            </a:r>
            <a:r>
              <a:rPr lang="en-GB" b="0" i="0" u="none" strike="noStrike" dirty="0">
                <a:solidFill>
                  <a:srgbClr val="000000"/>
                </a:solidFill>
                <a:effectLst/>
                <a:latin typeface="Source Sans Pro" panose="020B0503030403020204" pitchFamily="34" charset="0"/>
              </a:rPr>
              <a:t> → Regression → HeteroskedasticityV3 by Ahmad </a:t>
            </a:r>
            <a:r>
              <a:rPr lang="en-GB" b="0" i="0" u="none" strike="noStrike" dirty="0" err="1">
                <a:solidFill>
                  <a:srgbClr val="000000"/>
                </a:solidFill>
                <a:effectLst/>
                <a:latin typeface="Source Sans Pro" panose="020B0503030403020204" pitchFamily="34" charset="0"/>
              </a:rPr>
              <a:t>Daryanto</a:t>
            </a:r>
            <a:r>
              <a:rPr lang="en-GB" b="0" i="0" u="none" strike="noStrike" dirty="0">
                <a:solidFill>
                  <a:srgbClr val="000000"/>
                </a:solidFill>
                <a:effectLst/>
                <a:latin typeface="Source Sans Pro" panose="020B0503030403020204" pitchFamily="34" charset="0"/>
              </a:rPr>
              <a:t>.</a:t>
            </a:r>
          </a:p>
          <a:p>
            <a:pPr algn="l">
              <a:lnSpc>
                <a:spcPct val="150000"/>
              </a:lnSpc>
              <a:buFont typeface="Arial" panose="020B0604020202020204" pitchFamily="34" charset="0"/>
              <a:buChar char="•"/>
            </a:pPr>
            <a:r>
              <a:rPr lang="en-GB" b="0" i="0" u="none" strike="noStrike" dirty="0">
                <a:solidFill>
                  <a:srgbClr val="000000"/>
                </a:solidFill>
                <a:effectLst/>
                <a:latin typeface="Source Sans Pro" panose="020B0503030403020204" pitchFamily="34" charset="0"/>
              </a:rPr>
              <a:t>Insert Sales to the Outcome variable box.</a:t>
            </a:r>
          </a:p>
          <a:p>
            <a:pPr algn="l">
              <a:lnSpc>
                <a:spcPct val="150000"/>
              </a:lnSpc>
              <a:buFont typeface="Arial" panose="020B0604020202020204" pitchFamily="34" charset="0"/>
              <a:buChar char="•"/>
            </a:pPr>
            <a:r>
              <a:rPr lang="en-GB" b="0" i="0" u="none" strike="noStrike" dirty="0">
                <a:solidFill>
                  <a:srgbClr val="000000"/>
                </a:solidFill>
                <a:effectLst/>
                <a:latin typeface="Source Sans Pro" panose="020B0503030403020204" pitchFamily="34" charset="0"/>
              </a:rPr>
              <a:t>Insert Loyal to the Explanatory variable box.</a:t>
            </a:r>
          </a:p>
          <a:p>
            <a:pPr algn="l">
              <a:lnSpc>
                <a:spcPct val="150000"/>
              </a:lnSpc>
              <a:buFont typeface="Arial" panose="020B0604020202020204" pitchFamily="34" charset="0"/>
              <a:buChar char="•"/>
            </a:pPr>
            <a:r>
              <a:rPr lang="en-GB" b="0" i="0" u="none" strike="noStrike" dirty="0">
                <a:solidFill>
                  <a:srgbClr val="000000"/>
                </a:solidFill>
                <a:effectLst/>
                <a:latin typeface="Source Sans Pro" panose="020B0503030403020204" pitchFamily="34" charset="0"/>
              </a:rPr>
              <a:t>Leave the default HC4 as it is.</a:t>
            </a:r>
          </a:p>
          <a:p>
            <a:pPr algn="l">
              <a:lnSpc>
                <a:spcPct val="150000"/>
              </a:lnSpc>
              <a:buFont typeface="Arial" panose="020B0604020202020204" pitchFamily="34" charset="0"/>
              <a:buChar char="•"/>
            </a:pPr>
            <a:r>
              <a:rPr lang="en-GB" b="0" i="0" u="none" strike="noStrike" dirty="0">
                <a:solidFill>
                  <a:srgbClr val="000000"/>
                </a:solidFill>
                <a:effectLst/>
                <a:latin typeface="Source Sans Pro" panose="020B0503030403020204" pitchFamily="34" charset="0"/>
              </a:rPr>
              <a:t>Click OK and inspect the outputs. Do not click ‘Paste’ because long list of syntax will be output to a new syntax file.</a:t>
            </a:r>
          </a:p>
        </p:txBody>
      </p:sp>
    </p:spTree>
    <p:extLst>
      <p:ext uri="{BB962C8B-B14F-4D97-AF65-F5344CB8AC3E}">
        <p14:creationId xmlns:p14="http://schemas.microsoft.com/office/powerpoint/2010/main" val="3995459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BE3573D-1A65-F182-88A9-E5D0BCF022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1007" y="949107"/>
            <a:ext cx="6469986" cy="5243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6681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4CB45-E09C-0D4B-0638-5C1E4D60447D}"/>
              </a:ext>
            </a:extLst>
          </p:cNvPr>
          <p:cNvSpPr>
            <a:spLocks noGrp="1"/>
          </p:cNvSpPr>
          <p:nvPr>
            <p:ph type="title"/>
          </p:nvPr>
        </p:nvSpPr>
        <p:spPr/>
        <p:txBody>
          <a:bodyPr/>
          <a:lstStyle/>
          <a:p>
            <a:r>
              <a:rPr lang="en-GB" dirty="0">
                <a:solidFill>
                  <a:srgbClr val="FF0000"/>
                </a:solidFill>
              </a:rPr>
              <a:t>The Macro’s Outputs</a:t>
            </a:r>
          </a:p>
        </p:txBody>
      </p:sp>
      <p:pic>
        <p:nvPicPr>
          <p:cNvPr id="4098" name="Picture 2">
            <a:extLst>
              <a:ext uri="{FF2B5EF4-FFF2-40B4-BE49-F238E27FC236}">
                <a16:creationId xmlns:a16="http://schemas.microsoft.com/office/drawing/2014/main" id="{800D1CB8-1942-BD7D-C1F8-E0289B652B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371" y="1690688"/>
            <a:ext cx="6406473" cy="43646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E892519-E52B-1F20-9FA4-4BD86DEC7452}"/>
              </a:ext>
            </a:extLst>
          </p:cNvPr>
          <p:cNvSpPr txBox="1"/>
          <p:nvPr/>
        </p:nvSpPr>
        <p:spPr>
          <a:xfrm>
            <a:off x="8056604" y="595202"/>
            <a:ext cx="3653851" cy="5355312"/>
          </a:xfrm>
          <a:prstGeom prst="rect">
            <a:avLst/>
          </a:prstGeom>
          <a:noFill/>
        </p:spPr>
        <p:txBody>
          <a:bodyPr wrap="square">
            <a:spAutoFit/>
          </a:bodyPr>
          <a:lstStyle/>
          <a:p>
            <a:r>
              <a:rPr lang="en-GB" b="0" i="0" u="none" strike="noStrike" dirty="0">
                <a:solidFill>
                  <a:srgbClr val="000000"/>
                </a:solidFill>
                <a:effectLst/>
                <a:latin typeface="Source Sans Pro" panose="020B0503030403020204" pitchFamily="34" charset="0"/>
              </a:rPr>
              <a:t>As we can see from the Figure, the first part presents the standard regression outputs. The second part presents the regression results with adjusted standard errors. In both part, the regression coefficients are the same. As expected, the standard errors are slightly different for the intercept, which is smaller in the adjusted standard error (se = 0.0603 vs. se(HC4) = 0.0334). In this particular example, Loyal is significant with and without adjusted standard errors. Despite minimal differences, we still need to decide which part of the outputs will be used, with or without adjusted standard errors? We have to look at the next outputs.</a:t>
            </a:r>
            <a:endParaRPr lang="en-GB" dirty="0"/>
          </a:p>
        </p:txBody>
      </p:sp>
    </p:spTree>
    <p:extLst>
      <p:ext uri="{BB962C8B-B14F-4D97-AF65-F5344CB8AC3E}">
        <p14:creationId xmlns:p14="http://schemas.microsoft.com/office/powerpoint/2010/main" val="1490743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39145FC-546F-051F-DFC2-546559A522C7}"/>
              </a:ext>
            </a:extLst>
          </p:cNvPr>
          <p:cNvSpPr txBox="1"/>
          <p:nvPr/>
        </p:nvSpPr>
        <p:spPr>
          <a:xfrm>
            <a:off x="639462" y="501134"/>
            <a:ext cx="6098058" cy="369332"/>
          </a:xfrm>
          <a:prstGeom prst="rect">
            <a:avLst/>
          </a:prstGeom>
          <a:noFill/>
        </p:spPr>
        <p:txBody>
          <a:bodyPr wrap="square">
            <a:spAutoFit/>
          </a:bodyPr>
          <a:lstStyle/>
          <a:p>
            <a:r>
              <a:rPr lang="en-GB" i="0" u="none" strike="noStrike" dirty="0">
                <a:solidFill>
                  <a:srgbClr val="FF0000"/>
                </a:solidFill>
                <a:effectLst/>
                <a:latin typeface="Source Sans Pro" panose="020B0503030403020204" pitchFamily="34" charset="0"/>
              </a:rPr>
              <a:t>Statistical tests</a:t>
            </a:r>
            <a:endParaRPr lang="en-GB" dirty="0">
              <a:solidFill>
                <a:srgbClr val="FF0000"/>
              </a:solidFill>
            </a:endParaRPr>
          </a:p>
        </p:txBody>
      </p:sp>
      <p:pic>
        <p:nvPicPr>
          <p:cNvPr id="5122" name="Picture 2">
            <a:extLst>
              <a:ext uri="{FF2B5EF4-FFF2-40B4-BE49-F238E27FC236}">
                <a16:creationId xmlns:a16="http://schemas.microsoft.com/office/drawing/2014/main" id="{37365D81-8C27-1BA8-2486-EB1F5E14B5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462" y="1069546"/>
            <a:ext cx="12192000" cy="26924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7051055-BDAB-F172-EA42-DF09F0CF5ED3}"/>
              </a:ext>
            </a:extLst>
          </p:cNvPr>
          <p:cNvSpPr txBox="1"/>
          <p:nvPr/>
        </p:nvSpPr>
        <p:spPr>
          <a:xfrm>
            <a:off x="957650" y="3961026"/>
            <a:ext cx="9446740" cy="646331"/>
          </a:xfrm>
          <a:prstGeom prst="rect">
            <a:avLst/>
          </a:prstGeom>
          <a:noFill/>
        </p:spPr>
        <p:txBody>
          <a:bodyPr wrap="square">
            <a:spAutoFit/>
          </a:bodyPr>
          <a:lstStyle/>
          <a:p>
            <a:r>
              <a:rPr lang="en-GB" b="0" i="0" u="none" strike="noStrike" dirty="0">
                <a:solidFill>
                  <a:srgbClr val="000000"/>
                </a:solidFill>
                <a:effectLst/>
                <a:latin typeface="Source Sans Pro" panose="020B0503030403020204" pitchFamily="34" charset="0"/>
              </a:rPr>
              <a:t> In this example, the LM statistics of both tests are significant as both p-values are smaller than 0.05. Therefore, the null hypothesis of homoskedasticity is rejected. </a:t>
            </a:r>
            <a:endParaRPr lang="en-GB" dirty="0"/>
          </a:p>
        </p:txBody>
      </p:sp>
      <p:sp>
        <p:nvSpPr>
          <p:cNvPr id="9" name="TextBox 8">
            <a:extLst>
              <a:ext uri="{FF2B5EF4-FFF2-40B4-BE49-F238E27FC236}">
                <a16:creationId xmlns:a16="http://schemas.microsoft.com/office/drawing/2014/main" id="{D19382ED-F971-B294-E5C8-8712BB64EC55}"/>
              </a:ext>
            </a:extLst>
          </p:cNvPr>
          <p:cNvSpPr txBox="1"/>
          <p:nvPr/>
        </p:nvSpPr>
        <p:spPr>
          <a:xfrm>
            <a:off x="957650" y="5018557"/>
            <a:ext cx="10768912" cy="646331"/>
          </a:xfrm>
          <a:prstGeom prst="rect">
            <a:avLst/>
          </a:prstGeom>
          <a:noFill/>
        </p:spPr>
        <p:txBody>
          <a:bodyPr wrap="square">
            <a:spAutoFit/>
          </a:bodyPr>
          <a:lstStyle/>
          <a:p>
            <a:r>
              <a:rPr lang="en-GB" b="0" i="0" u="none" strike="noStrike" dirty="0">
                <a:solidFill>
                  <a:srgbClr val="000000"/>
                </a:solidFill>
                <a:effectLst/>
                <a:latin typeface="Source Sans Pro" panose="020B0503030403020204" pitchFamily="34" charset="0"/>
              </a:rPr>
              <a:t>This means that heteroskedasticity is likely to be present in the data. </a:t>
            </a:r>
          </a:p>
          <a:p>
            <a:r>
              <a:rPr lang="en-GB" b="0" i="0" u="none" strike="noStrike" dirty="0">
                <a:solidFill>
                  <a:srgbClr val="000000"/>
                </a:solidFill>
                <a:effectLst/>
                <a:latin typeface="Source Sans Pro" panose="020B0503030403020204" pitchFamily="34" charset="0"/>
              </a:rPr>
              <a:t>Based on this result, we have to use the results with the adjusted standard errors.</a:t>
            </a:r>
            <a:endParaRPr lang="en-GB" dirty="0"/>
          </a:p>
        </p:txBody>
      </p:sp>
      <p:sp>
        <p:nvSpPr>
          <p:cNvPr id="11" name="TextBox 10">
            <a:extLst>
              <a:ext uri="{FF2B5EF4-FFF2-40B4-BE49-F238E27FC236}">
                <a16:creationId xmlns:a16="http://schemas.microsoft.com/office/drawing/2014/main" id="{AEDE1D9F-34B0-52F6-A0F0-6EA549579117}"/>
              </a:ext>
            </a:extLst>
          </p:cNvPr>
          <p:cNvSpPr txBox="1"/>
          <p:nvPr/>
        </p:nvSpPr>
        <p:spPr>
          <a:xfrm>
            <a:off x="957650" y="5788454"/>
            <a:ext cx="11077831" cy="923330"/>
          </a:xfrm>
          <a:prstGeom prst="rect">
            <a:avLst/>
          </a:prstGeom>
          <a:noFill/>
        </p:spPr>
        <p:txBody>
          <a:bodyPr wrap="square">
            <a:spAutoFit/>
          </a:bodyPr>
          <a:lstStyle/>
          <a:p>
            <a:r>
              <a:rPr lang="en-GB" b="0" i="0" u="none" strike="noStrike" dirty="0">
                <a:solidFill>
                  <a:srgbClr val="000000"/>
                </a:solidFill>
                <a:effectLst/>
                <a:latin typeface="Source Sans Pro" panose="020B0503030403020204" pitchFamily="34" charset="0"/>
              </a:rPr>
              <a:t>The BP test is more stringent than the </a:t>
            </a:r>
            <a:r>
              <a:rPr lang="en-GB" b="0" i="0" u="none" strike="noStrike" dirty="0" err="1">
                <a:solidFill>
                  <a:srgbClr val="000000"/>
                </a:solidFill>
                <a:effectLst/>
                <a:latin typeface="Source Sans Pro" panose="020B0503030403020204" pitchFamily="34" charset="0"/>
              </a:rPr>
              <a:t>Koenker</a:t>
            </a:r>
            <a:r>
              <a:rPr lang="en-GB" b="0" i="0" u="none" strike="noStrike" dirty="0">
                <a:solidFill>
                  <a:srgbClr val="000000"/>
                </a:solidFill>
                <a:effectLst/>
                <a:latin typeface="Source Sans Pro" panose="020B0503030403020204" pitchFamily="34" charset="0"/>
              </a:rPr>
              <a:t> test, which assumes that the residuals are normally distributed. When two results are different, </a:t>
            </a:r>
            <a:r>
              <a:rPr lang="en-GB" b="0" i="0" u="none" strike="noStrike" dirty="0" err="1">
                <a:solidFill>
                  <a:srgbClr val="000000"/>
                </a:solidFill>
                <a:effectLst/>
                <a:latin typeface="Source Sans Pro" panose="020B0503030403020204" pitchFamily="34" charset="0"/>
              </a:rPr>
              <a:t>Koenker’s</a:t>
            </a:r>
            <a:r>
              <a:rPr lang="en-GB" b="0" i="0" u="none" strike="noStrike" dirty="0">
                <a:solidFill>
                  <a:srgbClr val="000000"/>
                </a:solidFill>
                <a:effectLst/>
                <a:latin typeface="Source Sans Pro" panose="020B0503030403020204" pitchFamily="34" charset="0"/>
              </a:rPr>
              <a:t> test is more preferable as it is robust against the departure from normality, especially if sample is large.</a:t>
            </a:r>
            <a:endParaRPr lang="en-GB" dirty="0"/>
          </a:p>
        </p:txBody>
      </p:sp>
    </p:spTree>
    <p:extLst>
      <p:ext uri="{BB962C8B-B14F-4D97-AF65-F5344CB8AC3E}">
        <p14:creationId xmlns:p14="http://schemas.microsoft.com/office/powerpoint/2010/main" val="1765079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C0E81F-BB61-1C76-C427-025BC29ED9AD}"/>
              </a:ext>
            </a:extLst>
          </p:cNvPr>
          <p:cNvSpPr txBox="1"/>
          <p:nvPr/>
        </p:nvSpPr>
        <p:spPr>
          <a:xfrm>
            <a:off x="577678" y="476421"/>
            <a:ext cx="6098058" cy="369332"/>
          </a:xfrm>
          <a:prstGeom prst="rect">
            <a:avLst/>
          </a:prstGeom>
          <a:noFill/>
        </p:spPr>
        <p:txBody>
          <a:bodyPr wrap="square">
            <a:spAutoFit/>
          </a:bodyPr>
          <a:lstStyle/>
          <a:p>
            <a:r>
              <a:rPr lang="en-GB" dirty="0">
                <a:solidFill>
                  <a:srgbClr val="FF0000"/>
                </a:solidFill>
                <a:latin typeface="Source Sans Pro" panose="020B0503030403020204" pitchFamily="34" charset="0"/>
              </a:rPr>
              <a:t>Residual plot</a:t>
            </a:r>
          </a:p>
        </p:txBody>
      </p:sp>
      <p:sp>
        <p:nvSpPr>
          <p:cNvPr id="5" name="TextBox 4">
            <a:extLst>
              <a:ext uri="{FF2B5EF4-FFF2-40B4-BE49-F238E27FC236}">
                <a16:creationId xmlns:a16="http://schemas.microsoft.com/office/drawing/2014/main" id="{DD1AE1EE-6A6D-C6A6-815C-A52BF1AE91FF}"/>
              </a:ext>
            </a:extLst>
          </p:cNvPr>
          <p:cNvSpPr txBox="1"/>
          <p:nvPr/>
        </p:nvSpPr>
        <p:spPr>
          <a:xfrm>
            <a:off x="577678" y="1130810"/>
            <a:ext cx="6098058" cy="1754326"/>
          </a:xfrm>
          <a:prstGeom prst="rect">
            <a:avLst/>
          </a:prstGeom>
          <a:noFill/>
        </p:spPr>
        <p:txBody>
          <a:bodyPr wrap="square">
            <a:spAutoFit/>
          </a:bodyPr>
          <a:lstStyle/>
          <a:p>
            <a:r>
              <a:rPr lang="en-GB" b="0" i="0" u="none" strike="noStrike" dirty="0">
                <a:solidFill>
                  <a:srgbClr val="000000"/>
                </a:solidFill>
                <a:effectLst/>
                <a:latin typeface="Source Sans Pro" panose="020B0503030403020204" pitchFamily="34" charset="0"/>
              </a:rPr>
              <a:t>The plot of residuals against the fitted values is displayed in the last output of the macro. From the output, it is very obvious that the distribution of the residuals are not constant. The residuals of the loyal customer group is more spread out than that of the non-loyal customer group, which confirmed the results of the BP and </a:t>
            </a:r>
            <a:r>
              <a:rPr lang="en-GB" b="0" i="0" u="none" strike="noStrike" dirty="0" err="1">
                <a:solidFill>
                  <a:srgbClr val="000000"/>
                </a:solidFill>
                <a:effectLst/>
                <a:latin typeface="Source Sans Pro" panose="020B0503030403020204" pitchFamily="34" charset="0"/>
              </a:rPr>
              <a:t>Koenker</a:t>
            </a:r>
            <a:r>
              <a:rPr lang="en-GB" b="0" i="0" u="none" strike="noStrike" dirty="0">
                <a:solidFill>
                  <a:srgbClr val="000000"/>
                </a:solidFill>
                <a:effectLst/>
                <a:latin typeface="Source Sans Pro" panose="020B0503030403020204" pitchFamily="34" charset="0"/>
              </a:rPr>
              <a:t> tests above.</a:t>
            </a:r>
            <a:endParaRPr lang="en-GB" dirty="0"/>
          </a:p>
        </p:txBody>
      </p:sp>
      <p:pic>
        <p:nvPicPr>
          <p:cNvPr id="6146" name="Picture 2">
            <a:extLst>
              <a:ext uri="{FF2B5EF4-FFF2-40B4-BE49-F238E27FC236}">
                <a16:creationId xmlns:a16="http://schemas.microsoft.com/office/drawing/2014/main" id="{C5AF4E45-F42F-8577-2EB1-A74DB655C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1422" y="2983558"/>
            <a:ext cx="6366239" cy="3752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7691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3738-585C-B055-9EC9-8BEF62687F11}"/>
              </a:ext>
            </a:extLst>
          </p:cNvPr>
          <p:cNvSpPr>
            <a:spLocks noGrp="1"/>
          </p:cNvSpPr>
          <p:nvPr>
            <p:ph type="title"/>
          </p:nvPr>
        </p:nvSpPr>
        <p:spPr/>
        <p:txBody>
          <a:bodyPr/>
          <a:lstStyle/>
          <a:p>
            <a:r>
              <a:rPr lang="en-GB" dirty="0"/>
              <a:t>Exercise</a:t>
            </a:r>
          </a:p>
        </p:txBody>
      </p:sp>
      <p:sp>
        <p:nvSpPr>
          <p:cNvPr id="3" name="Content Placeholder 2">
            <a:extLst>
              <a:ext uri="{FF2B5EF4-FFF2-40B4-BE49-F238E27FC236}">
                <a16:creationId xmlns:a16="http://schemas.microsoft.com/office/drawing/2014/main" id="{817B5D3C-CD8D-522B-6569-FE1ADF84B8C0}"/>
              </a:ext>
            </a:extLst>
          </p:cNvPr>
          <p:cNvSpPr>
            <a:spLocks noGrp="1"/>
          </p:cNvSpPr>
          <p:nvPr>
            <p:ph idx="1"/>
          </p:nvPr>
        </p:nvSpPr>
        <p:spPr/>
        <p:txBody>
          <a:bodyPr/>
          <a:lstStyle/>
          <a:p>
            <a:r>
              <a:rPr lang="en-GB" dirty="0"/>
              <a:t>Use </a:t>
            </a:r>
            <a:r>
              <a:rPr lang="en-GB" dirty="0" err="1"/>
              <a:t>Slotegraaf.sav</a:t>
            </a:r>
            <a:endParaRPr lang="en-GB" dirty="0"/>
          </a:p>
          <a:p>
            <a:r>
              <a:rPr lang="en-GB" dirty="0"/>
              <a:t>Inspect the relationship between Team Stability, Team Size, and Team-level Debate. Draw your model in </a:t>
            </a:r>
            <a:r>
              <a:rPr lang="en-GB"/>
              <a:t>a diagram.</a:t>
            </a:r>
            <a:endParaRPr lang="en-GB" dirty="0"/>
          </a:p>
          <a:p>
            <a:r>
              <a:rPr lang="en-GB" dirty="0"/>
              <a:t>Would you correct for the standard errors?</a:t>
            </a:r>
          </a:p>
        </p:txBody>
      </p:sp>
    </p:spTree>
    <p:extLst>
      <p:ext uri="{BB962C8B-B14F-4D97-AF65-F5344CB8AC3E}">
        <p14:creationId xmlns:p14="http://schemas.microsoft.com/office/powerpoint/2010/main" val="1534151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8E50D-2A19-1A4D-56CF-4AD283769757}"/>
              </a:ext>
            </a:extLst>
          </p:cNvPr>
          <p:cNvSpPr>
            <a:spLocks noGrp="1"/>
          </p:cNvSpPr>
          <p:nvPr>
            <p:ph type="title"/>
          </p:nvPr>
        </p:nvSpPr>
        <p:spPr>
          <a:xfrm>
            <a:off x="603421" y="123"/>
            <a:ext cx="10515600" cy="1325563"/>
          </a:xfrm>
        </p:spPr>
        <p:txBody>
          <a:bodyPr/>
          <a:lstStyle/>
          <a:p>
            <a:r>
              <a:rPr lang="en-GB" dirty="0">
                <a:solidFill>
                  <a:srgbClr val="FF0000"/>
                </a:solidFill>
              </a:rPr>
              <a:t>R Action</a:t>
            </a:r>
          </a:p>
        </p:txBody>
      </p:sp>
      <p:sp>
        <p:nvSpPr>
          <p:cNvPr id="4" name="TextBox 3">
            <a:extLst>
              <a:ext uri="{FF2B5EF4-FFF2-40B4-BE49-F238E27FC236}">
                <a16:creationId xmlns:a16="http://schemas.microsoft.com/office/drawing/2014/main" id="{80E1E305-9422-5885-9475-704F3EAC2625}"/>
              </a:ext>
            </a:extLst>
          </p:cNvPr>
          <p:cNvSpPr txBox="1"/>
          <p:nvPr/>
        </p:nvSpPr>
        <p:spPr>
          <a:xfrm>
            <a:off x="603421" y="1006724"/>
            <a:ext cx="11147854" cy="2585323"/>
          </a:xfrm>
          <a:prstGeom prst="rect">
            <a:avLst/>
          </a:prstGeom>
          <a:noFill/>
        </p:spPr>
        <p:txBody>
          <a:bodyPr wrap="square">
            <a:spAutoFit/>
          </a:bodyPr>
          <a:lstStyle/>
          <a:p>
            <a:r>
              <a:rPr lang="en-GB" dirty="0"/>
              <a:t>library(haven)</a:t>
            </a:r>
          </a:p>
          <a:p>
            <a:r>
              <a:rPr lang="en-GB" dirty="0"/>
              <a:t>library(</a:t>
            </a:r>
            <a:r>
              <a:rPr lang="en-GB" dirty="0" err="1"/>
              <a:t>lmtest</a:t>
            </a:r>
            <a:r>
              <a:rPr lang="en-GB" dirty="0"/>
              <a:t>)</a:t>
            </a:r>
          </a:p>
          <a:p>
            <a:r>
              <a:rPr lang="en-GB" dirty="0"/>
              <a:t>library(sandwich)</a:t>
            </a:r>
          </a:p>
          <a:p>
            <a:endParaRPr lang="en-GB" dirty="0"/>
          </a:p>
          <a:p>
            <a:r>
              <a:rPr lang="en-GB" dirty="0"/>
              <a:t>rm(list=ls()) # start from a clean slate.</a:t>
            </a:r>
          </a:p>
          <a:p>
            <a:endParaRPr lang="en-GB" dirty="0"/>
          </a:p>
          <a:p>
            <a:r>
              <a:rPr lang="en-GB" dirty="0" err="1"/>
              <a:t>dat</a:t>
            </a:r>
            <a:r>
              <a:rPr lang="en-GB" dirty="0"/>
              <a:t> &lt;- </a:t>
            </a:r>
            <a:r>
              <a:rPr lang="en-GB" dirty="0" err="1"/>
              <a:t>read_spss</a:t>
            </a:r>
            <a:r>
              <a:rPr lang="en-GB" dirty="0"/>
              <a:t>("/Users/</a:t>
            </a:r>
            <a:r>
              <a:rPr lang="en-GB" dirty="0" err="1"/>
              <a:t>ahmaddaryanto</a:t>
            </a:r>
            <a:r>
              <a:rPr lang="en-GB" dirty="0"/>
              <a:t>/Documents/Data1/</a:t>
            </a:r>
            <a:r>
              <a:rPr lang="en-GB" dirty="0" err="1"/>
              <a:t>satisfaction.sav</a:t>
            </a:r>
            <a:r>
              <a:rPr lang="en-GB" dirty="0"/>
              <a:t>")</a:t>
            </a:r>
          </a:p>
          <a:p>
            <a:r>
              <a:rPr lang="en-GB" dirty="0" err="1"/>
              <a:t>lm_model</a:t>
            </a:r>
            <a:r>
              <a:rPr lang="en-GB" dirty="0"/>
              <a:t> &lt;- </a:t>
            </a:r>
            <a:r>
              <a:rPr lang="en-GB" dirty="0" err="1"/>
              <a:t>lm</a:t>
            </a:r>
            <a:r>
              <a:rPr lang="en-GB" dirty="0"/>
              <a:t>(Sat ~ Loyal, data = </a:t>
            </a:r>
            <a:r>
              <a:rPr lang="en-GB" dirty="0" err="1"/>
              <a:t>dat</a:t>
            </a:r>
            <a:r>
              <a:rPr lang="en-GB" dirty="0"/>
              <a:t>)</a:t>
            </a:r>
          </a:p>
          <a:p>
            <a:r>
              <a:rPr lang="en-GB" dirty="0"/>
              <a:t>summary(</a:t>
            </a:r>
            <a:r>
              <a:rPr lang="en-GB" dirty="0" err="1"/>
              <a:t>lm_model</a:t>
            </a:r>
            <a:r>
              <a:rPr lang="en-GB" dirty="0"/>
              <a:t>)</a:t>
            </a:r>
          </a:p>
        </p:txBody>
      </p:sp>
      <p:sp>
        <p:nvSpPr>
          <p:cNvPr id="6" name="TextBox 5">
            <a:extLst>
              <a:ext uri="{FF2B5EF4-FFF2-40B4-BE49-F238E27FC236}">
                <a16:creationId xmlns:a16="http://schemas.microsoft.com/office/drawing/2014/main" id="{7D672056-F4F1-884B-49D1-5BF2D438A330}"/>
              </a:ext>
            </a:extLst>
          </p:cNvPr>
          <p:cNvSpPr txBox="1"/>
          <p:nvPr/>
        </p:nvSpPr>
        <p:spPr>
          <a:xfrm>
            <a:off x="603421" y="3811290"/>
            <a:ext cx="6098058" cy="369332"/>
          </a:xfrm>
          <a:prstGeom prst="rect">
            <a:avLst/>
          </a:prstGeom>
          <a:noFill/>
        </p:spPr>
        <p:txBody>
          <a:bodyPr wrap="square">
            <a:spAutoFit/>
          </a:bodyPr>
          <a:lstStyle/>
          <a:p>
            <a:r>
              <a:rPr lang="en-GB" dirty="0"/>
              <a:t>plot(</a:t>
            </a:r>
            <a:r>
              <a:rPr lang="en-GB" dirty="0" err="1"/>
              <a:t>lm_model</a:t>
            </a:r>
            <a:r>
              <a:rPr lang="en-GB" dirty="0"/>
              <a:t>, which=c(1,1))</a:t>
            </a:r>
          </a:p>
        </p:txBody>
      </p:sp>
      <p:sp>
        <p:nvSpPr>
          <p:cNvPr id="8" name="TextBox 7">
            <a:extLst>
              <a:ext uri="{FF2B5EF4-FFF2-40B4-BE49-F238E27FC236}">
                <a16:creationId xmlns:a16="http://schemas.microsoft.com/office/drawing/2014/main" id="{22F058A9-0223-6B76-9E12-78D97F3E44D4}"/>
              </a:ext>
            </a:extLst>
          </p:cNvPr>
          <p:cNvSpPr txBox="1"/>
          <p:nvPr/>
        </p:nvSpPr>
        <p:spPr>
          <a:xfrm>
            <a:off x="603421" y="4343572"/>
            <a:ext cx="9529120" cy="1200329"/>
          </a:xfrm>
          <a:prstGeom prst="rect">
            <a:avLst/>
          </a:prstGeom>
          <a:noFill/>
        </p:spPr>
        <p:txBody>
          <a:bodyPr wrap="square">
            <a:spAutoFit/>
          </a:bodyPr>
          <a:lstStyle/>
          <a:p>
            <a:r>
              <a:rPr lang="en-GB" dirty="0"/>
              <a:t># BP test</a:t>
            </a:r>
          </a:p>
          <a:p>
            <a:r>
              <a:rPr lang="en-GB" dirty="0"/>
              <a:t>bp &lt;- </a:t>
            </a:r>
            <a:r>
              <a:rPr lang="en-GB" dirty="0" err="1"/>
              <a:t>bptest</a:t>
            </a:r>
            <a:r>
              <a:rPr lang="en-GB" dirty="0"/>
              <a:t>(Sat ~ Loyal, </a:t>
            </a:r>
            <a:r>
              <a:rPr lang="en-GB" dirty="0" err="1"/>
              <a:t>varformula</a:t>
            </a:r>
            <a:r>
              <a:rPr lang="en-GB" dirty="0"/>
              <a:t> = NULL, </a:t>
            </a:r>
            <a:r>
              <a:rPr lang="en-GB" dirty="0" err="1"/>
              <a:t>studentize</a:t>
            </a:r>
            <a:r>
              <a:rPr lang="en-GB" dirty="0"/>
              <a:t> = FALSE</a:t>
            </a:r>
          </a:p>
          <a:p>
            <a:r>
              <a:rPr lang="en-GB" dirty="0"/>
              <a:t>   , data = </a:t>
            </a:r>
            <a:r>
              <a:rPr lang="en-GB" dirty="0" err="1"/>
              <a:t>dat</a:t>
            </a:r>
            <a:r>
              <a:rPr lang="en-GB" dirty="0"/>
              <a:t>)</a:t>
            </a:r>
          </a:p>
          <a:p>
            <a:r>
              <a:rPr lang="en-GB" dirty="0"/>
              <a:t>bp</a:t>
            </a:r>
          </a:p>
        </p:txBody>
      </p:sp>
      <p:sp>
        <p:nvSpPr>
          <p:cNvPr id="10" name="TextBox 9">
            <a:extLst>
              <a:ext uri="{FF2B5EF4-FFF2-40B4-BE49-F238E27FC236}">
                <a16:creationId xmlns:a16="http://schemas.microsoft.com/office/drawing/2014/main" id="{01B6F599-1BA5-CCD9-F189-C6A8B9DFCA32}"/>
              </a:ext>
            </a:extLst>
          </p:cNvPr>
          <p:cNvSpPr txBox="1"/>
          <p:nvPr/>
        </p:nvSpPr>
        <p:spPr>
          <a:xfrm>
            <a:off x="603421" y="5543901"/>
            <a:ext cx="8393327" cy="1200329"/>
          </a:xfrm>
          <a:prstGeom prst="rect">
            <a:avLst/>
          </a:prstGeom>
          <a:noFill/>
        </p:spPr>
        <p:txBody>
          <a:bodyPr wrap="square">
            <a:spAutoFit/>
          </a:bodyPr>
          <a:lstStyle/>
          <a:p>
            <a:r>
              <a:rPr lang="en-GB" dirty="0"/>
              <a:t># </a:t>
            </a:r>
            <a:r>
              <a:rPr lang="en-GB" dirty="0" err="1"/>
              <a:t>Koenker</a:t>
            </a:r>
            <a:r>
              <a:rPr lang="en-GB" dirty="0"/>
              <a:t> test</a:t>
            </a:r>
          </a:p>
          <a:p>
            <a:r>
              <a:rPr lang="en-GB" dirty="0"/>
              <a:t>kt &lt;- </a:t>
            </a:r>
            <a:r>
              <a:rPr lang="en-GB" dirty="0" err="1"/>
              <a:t>bptest</a:t>
            </a:r>
            <a:r>
              <a:rPr lang="en-GB" dirty="0"/>
              <a:t>(Sat ~ Loyal, </a:t>
            </a:r>
            <a:r>
              <a:rPr lang="en-GB" dirty="0" err="1"/>
              <a:t>varformula</a:t>
            </a:r>
            <a:r>
              <a:rPr lang="en-GB" dirty="0"/>
              <a:t> = NULL, </a:t>
            </a:r>
            <a:r>
              <a:rPr lang="en-GB" dirty="0" err="1"/>
              <a:t>studentize</a:t>
            </a:r>
            <a:r>
              <a:rPr lang="en-GB" dirty="0"/>
              <a:t> = TRUE,</a:t>
            </a:r>
          </a:p>
          <a:p>
            <a:r>
              <a:rPr lang="en-GB" dirty="0"/>
              <a:t>    data = </a:t>
            </a:r>
            <a:r>
              <a:rPr lang="en-GB" dirty="0" err="1"/>
              <a:t>dat</a:t>
            </a:r>
            <a:r>
              <a:rPr lang="en-GB" dirty="0"/>
              <a:t>)</a:t>
            </a:r>
          </a:p>
          <a:p>
            <a:r>
              <a:rPr lang="en-GB" dirty="0"/>
              <a:t>kt</a:t>
            </a:r>
          </a:p>
        </p:txBody>
      </p:sp>
    </p:spTree>
    <p:extLst>
      <p:ext uri="{BB962C8B-B14F-4D97-AF65-F5344CB8AC3E}">
        <p14:creationId xmlns:p14="http://schemas.microsoft.com/office/powerpoint/2010/main" val="2349237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969D80-3AF6-0EAF-84EC-FDE576A6870E}"/>
              </a:ext>
            </a:extLst>
          </p:cNvPr>
          <p:cNvSpPr txBox="1"/>
          <p:nvPr/>
        </p:nvSpPr>
        <p:spPr>
          <a:xfrm>
            <a:off x="429397" y="350278"/>
            <a:ext cx="6098058" cy="646331"/>
          </a:xfrm>
          <a:prstGeom prst="rect">
            <a:avLst/>
          </a:prstGeom>
          <a:noFill/>
        </p:spPr>
        <p:txBody>
          <a:bodyPr wrap="square">
            <a:spAutoFit/>
          </a:bodyPr>
          <a:lstStyle/>
          <a:p>
            <a:r>
              <a:rPr lang="en-GB" b="0" i="0" u="none" strike="noStrike" dirty="0">
                <a:solidFill>
                  <a:srgbClr val="000000"/>
                </a:solidFill>
                <a:effectLst/>
                <a:latin typeface="Source Sans Pro" panose="020B0503030403020204" pitchFamily="34" charset="0"/>
              </a:rPr>
              <a:t>Calculate robust standard errors and compute their 95% confidence interval:</a:t>
            </a:r>
            <a:endParaRPr lang="en-GB" dirty="0"/>
          </a:p>
        </p:txBody>
      </p:sp>
      <p:sp>
        <p:nvSpPr>
          <p:cNvPr id="6" name="TextBox 5">
            <a:extLst>
              <a:ext uri="{FF2B5EF4-FFF2-40B4-BE49-F238E27FC236}">
                <a16:creationId xmlns:a16="http://schemas.microsoft.com/office/drawing/2014/main" id="{7704F73E-84F6-7544-C41C-55E08FCFDF97}"/>
              </a:ext>
            </a:extLst>
          </p:cNvPr>
          <p:cNvSpPr txBox="1"/>
          <p:nvPr/>
        </p:nvSpPr>
        <p:spPr>
          <a:xfrm>
            <a:off x="540608" y="1353751"/>
            <a:ext cx="6098058" cy="369332"/>
          </a:xfrm>
          <a:prstGeom prst="rect">
            <a:avLst/>
          </a:prstGeom>
          <a:noFill/>
        </p:spPr>
        <p:txBody>
          <a:bodyPr wrap="square">
            <a:spAutoFit/>
          </a:bodyPr>
          <a:lstStyle/>
          <a:p>
            <a:r>
              <a:rPr lang="en-GB" dirty="0" err="1"/>
              <a:t>coeftest</a:t>
            </a:r>
            <a:r>
              <a:rPr lang="en-GB" dirty="0"/>
              <a:t>(</a:t>
            </a:r>
            <a:r>
              <a:rPr lang="en-GB" dirty="0" err="1"/>
              <a:t>lm_model,vcov</a:t>
            </a:r>
            <a:r>
              <a:rPr lang="en-GB" dirty="0"/>
              <a:t> = </a:t>
            </a:r>
            <a:r>
              <a:rPr lang="en-GB" dirty="0" err="1"/>
              <a:t>vcovHC</a:t>
            </a:r>
            <a:r>
              <a:rPr lang="en-GB" dirty="0"/>
              <a:t>(</a:t>
            </a:r>
            <a:r>
              <a:rPr lang="en-GB" dirty="0" err="1"/>
              <a:t>lm_model,type</a:t>
            </a:r>
            <a:r>
              <a:rPr lang="en-GB" dirty="0"/>
              <a:t>="HC4"))</a:t>
            </a:r>
          </a:p>
        </p:txBody>
      </p:sp>
      <p:sp>
        <p:nvSpPr>
          <p:cNvPr id="8" name="TextBox 7">
            <a:extLst>
              <a:ext uri="{FF2B5EF4-FFF2-40B4-BE49-F238E27FC236}">
                <a16:creationId xmlns:a16="http://schemas.microsoft.com/office/drawing/2014/main" id="{D50CF1D5-E280-6129-2A62-F57D2BBDC484}"/>
              </a:ext>
            </a:extLst>
          </p:cNvPr>
          <p:cNvSpPr txBox="1"/>
          <p:nvPr/>
        </p:nvSpPr>
        <p:spPr>
          <a:xfrm>
            <a:off x="540608" y="1983427"/>
            <a:ext cx="9653716" cy="1754326"/>
          </a:xfrm>
          <a:prstGeom prst="rect">
            <a:avLst/>
          </a:prstGeom>
          <a:noFill/>
        </p:spPr>
        <p:txBody>
          <a:bodyPr wrap="square">
            <a:spAutoFit/>
          </a:bodyPr>
          <a:lstStyle/>
          <a:p>
            <a:r>
              <a:rPr lang="en-GB" dirty="0"/>
              <a:t>#compute 95%CI for robust se</a:t>
            </a:r>
          </a:p>
          <a:p>
            <a:r>
              <a:rPr lang="en-GB" dirty="0"/>
              <a:t>covariance &lt;- </a:t>
            </a:r>
            <a:r>
              <a:rPr lang="en-GB" dirty="0" err="1"/>
              <a:t>vcovHC</a:t>
            </a:r>
            <a:r>
              <a:rPr lang="en-GB" dirty="0"/>
              <a:t>(</a:t>
            </a:r>
            <a:r>
              <a:rPr lang="en-GB" dirty="0" err="1"/>
              <a:t>lm_model</a:t>
            </a:r>
            <a:r>
              <a:rPr lang="en-GB" dirty="0"/>
              <a:t>, type = "HC4")</a:t>
            </a:r>
          </a:p>
          <a:p>
            <a:r>
              <a:rPr lang="en-GB" dirty="0" err="1"/>
              <a:t>t.critical</a:t>
            </a:r>
            <a:r>
              <a:rPr lang="en-GB" dirty="0"/>
              <a:t> &lt;-qt(c(0.025,0.975),summary(</a:t>
            </a:r>
            <a:r>
              <a:rPr lang="en-GB" dirty="0" err="1"/>
              <a:t>lm_model</a:t>
            </a:r>
            <a:r>
              <a:rPr lang="en-GB" dirty="0"/>
              <a:t>)$</a:t>
            </a:r>
            <a:r>
              <a:rPr lang="en-GB" dirty="0" err="1"/>
              <a:t>df</a:t>
            </a:r>
            <a:r>
              <a:rPr lang="en-GB" dirty="0"/>
              <a:t>[2])</a:t>
            </a:r>
          </a:p>
          <a:p>
            <a:r>
              <a:rPr lang="en-GB" dirty="0"/>
              <a:t>se &lt;- sqrt(</a:t>
            </a:r>
            <a:r>
              <a:rPr lang="en-GB" dirty="0" err="1"/>
              <a:t>diag</a:t>
            </a:r>
            <a:r>
              <a:rPr lang="en-GB" dirty="0"/>
              <a:t>(covariance))</a:t>
            </a:r>
          </a:p>
          <a:p>
            <a:r>
              <a:rPr lang="en-GB" dirty="0" err="1"/>
              <a:t>robust.ci</a:t>
            </a:r>
            <a:r>
              <a:rPr lang="en-GB" dirty="0"/>
              <a:t> &lt;-</a:t>
            </a:r>
            <a:r>
              <a:rPr lang="en-GB" dirty="0" err="1"/>
              <a:t>coef</a:t>
            </a:r>
            <a:r>
              <a:rPr lang="en-GB" dirty="0"/>
              <a:t>(</a:t>
            </a:r>
            <a:r>
              <a:rPr lang="en-GB" dirty="0" err="1"/>
              <a:t>lm_model</a:t>
            </a:r>
            <a:r>
              <a:rPr lang="en-GB" dirty="0"/>
              <a:t>) + se %o% </a:t>
            </a:r>
            <a:r>
              <a:rPr lang="en-GB" dirty="0" err="1"/>
              <a:t>t.critical</a:t>
            </a:r>
            <a:endParaRPr lang="en-GB" dirty="0"/>
          </a:p>
          <a:p>
            <a:r>
              <a:rPr lang="en-GB" dirty="0" err="1"/>
              <a:t>robust.ci</a:t>
            </a:r>
            <a:endParaRPr lang="en-GB" dirty="0"/>
          </a:p>
        </p:txBody>
      </p:sp>
    </p:spTree>
    <p:extLst>
      <p:ext uri="{BB962C8B-B14F-4D97-AF65-F5344CB8AC3E}">
        <p14:creationId xmlns:p14="http://schemas.microsoft.com/office/powerpoint/2010/main" val="2321972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CEF4F-4621-B398-795A-D6013FEE9D2B}"/>
              </a:ext>
            </a:extLst>
          </p:cNvPr>
          <p:cNvSpPr>
            <a:spLocks noGrp="1"/>
          </p:cNvSpPr>
          <p:nvPr>
            <p:ph type="title"/>
          </p:nvPr>
        </p:nvSpPr>
        <p:spPr/>
        <p:txBody>
          <a:bodyPr/>
          <a:lstStyle/>
          <a:p>
            <a:r>
              <a:rPr lang="en-GB" dirty="0">
                <a:solidFill>
                  <a:srgbClr val="FF0000"/>
                </a:solidFill>
              </a:rPr>
              <a:t>Further Reading</a:t>
            </a:r>
          </a:p>
        </p:txBody>
      </p:sp>
      <p:sp>
        <p:nvSpPr>
          <p:cNvPr id="4" name="TextBox 3">
            <a:extLst>
              <a:ext uri="{FF2B5EF4-FFF2-40B4-BE49-F238E27FC236}">
                <a16:creationId xmlns:a16="http://schemas.microsoft.com/office/drawing/2014/main" id="{52A82FCD-3319-124D-1AFA-2E178C88A554}"/>
              </a:ext>
            </a:extLst>
          </p:cNvPr>
          <p:cNvSpPr txBox="1"/>
          <p:nvPr/>
        </p:nvSpPr>
        <p:spPr>
          <a:xfrm>
            <a:off x="949849" y="1820866"/>
            <a:ext cx="6100996" cy="1200329"/>
          </a:xfrm>
          <a:prstGeom prst="rect">
            <a:avLst/>
          </a:prstGeom>
          <a:noFill/>
        </p:spPr>
        <p:txBody>
          <a:bodyPr wrap="square">
            <a:spAutoFit/>
          </a:bodyPr>
          <a:lstStyle/>
          <a:p>
            <a:r>
              <a:rPr lang="en-GB" dirty="0"/>
              <a:t>Daryanto, A. (2020). Tutorial on heteroskedasticity using heteroskedasticityV3 SPSS macro. </a:t>
            </a:r>
            <a:r>
              <a:rPr lang="en-GB" i="1" dirty="0"/>
              <a:t>The Quantitative Methods </a:t>
            </a:r>
            <a:r>
              <a:rPr lang="en-GB" i="1" dirty="0" err="1"/>
              <a:t>forPsychology</a:t>
            </a:r>
            <a:r>
              <a:rPr lang="en-GB" dirty="0"/>
              <a:t>, </a:t>
            </a:r>
            <a:r>
              <a:rPr lang="en-GB" i="1" dirty="0"/>
              <a:t>16</a:t>
            </a:r>
            <a:r>
              <a:rPr lang="en-GB" dirty="0"/>
              <a:t>(5), 8-20.</a:t>
            </a:r>
          </a:p>
          <a:p>
            <a:endParaRPr lang="en-GB" dirty="0"/>
          </a:p>
        </p:txBody>
      </p:sp>
    </p:spTree>
    <p:extLst>
      <p:ext uri="{BB962C8B-B14F-4D97-AF65-F5344CB8AC3E}">
        <p14:creationId xmlns:p14="http://schemas.microsoft.com/office/powerpoint/2010/main" val="3993109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c9bcd11-977a-4e9c-a9a0-bc734090164a}" enabled="0" method="" siteId="{9c9bcd11-977a-4e9c-a9a0-bc734090164a}" removed="1"/>
</clbl:labelList>
</file>

<file path=docProps/app.xml><?xml version="1.0" encoding="utf-8"?>
<Properties xmlns="http://schemas.openxmlformats.org/officeDocument/2006/extended-properties" xmlns:vt="http://schemas.openxmlformats.org/officeDocument/2006/docPropsVTypes">
  <TotalTime>0</TotalTime>
  <Words>1267</Words>
  <Application>Microsoft Office PowerPoint</Application>
  <PresentationFormat>Widescreen</PresentationFormat>
  <Paragraphs>93</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Source Sans Pro</vt:lpstr>
      <vt:lpstr>Office Theme</vt:lpstr>
      <vt:lpstr>Workshop on Data Analysis</vt:lpstr>
      <vt:lpstr>Chapter 14: Diagnostic</vt:lpstr>
      <vt:lpstr>To start</vt:lpstr>
      <vt:lpstr>Learning Objectives</vt:lpstr>
      <vt:lpstr>On YouTube</vt:lpstr>
      <vt:lpstr>Homoskedasticity and Heteroskedasticity</vt:lpstr>
      <vt:lpstr>Consequences of Heteroskedasticity</vt:lpstr>
      <vt:lpstr>How to Detect Heteroskedasticity?</vt:lpstr>
      <vt:lpstr>Homoskedastic or heteroskedastic residuals?</vt:lpstr>
      <vt:lpstr>Remedy</vt:lpstr>
      <vt:lpstr>SPSS Action: HeteroskedasticityV3 Macro</vt:lpstr>
      <vt:lpstr>PowerPoint Presentation</vt:lpstr>
      <vt:lpstr>PowerPoint Presentation</vt:lpstr>
      <vt:lpstr>The Macro’s Outputs</vt:lpstr>
      <vt:lpstr>PowerPoint Presentation</vt:lpstr>
      <vt:lpstr>PowerPoint Presentation</vt:lpstr>
      <vt:lpstr>Exercise</vt:lpstr>
      <vt:lpstr>R Action</vt:lpstr>
      <vt:lpstr>PowerPoint Presentation</vt:lpstr>
      <vt:lpstr>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Daryanto, Ahmad</dc:creator>
  <cp:lastModifiedBy>Daryanto, Ahmad</cp:lastModifiedBy>
  <cp:revision>187</cp:revision>
  <dcterms:created xsi:type="dcterms:W3CDTF">2022-10-04T08:24:38Z</dcterms:created>
  <dcterms:modified xsi:type="dcterms:W3CDTF">2026-09-09T02:45:57Z</dcterms:modified>
</cp:coreProperties>
</file>